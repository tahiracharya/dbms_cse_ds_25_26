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9" r:id="rId1"/>
  </p:sldMasterIdLst>
  <p:notesMasterIdLst>
    <p:notesMasterId r:id="rId47"/>
  </p:notesMasterIdLst>
  <p:handoutMasterIdLst>
    <p:handoutMasterId r:id="rId48"/>
  </p:handoutMasterIdLst>
  <p:sldIdLst>
    <p:sldId id="439" r:id="rId2"/>
    <p:sldId id="403" r:id="rId3"/>
    <p:sldId id="448" r:id="rId4"/>
    <p:sldId id="507" r:id="rId5"/>
    <p:sldId id="413" r:id="rId6"/>
    <p:sldId id="510" r:id="rId7"/>
    <p:sldId id="511" r:id="rId8"/>
    <p:sldId id="512" r:id="rId9"/>
    <p:sldId id="513" r:id="rId10"/>
    <p:sldId id="509" r:id="rId11"/>
    <p:sldId id="544" r:id="rId12"/>
    <p:sldId id="543" r:id="rId13"/>
    <p:sldId id="514" r:id="rId14"/>
    <p:sldId id="542" r:id="rId15"/>
    <p:sldId id="406" r:id="rId16"/>
    <p:sldId id="515" r:id="rId17"/>
    <p:sldId id="516" r:id="rId18"/>
    <p:sldId id="517" r:id="rId19"/>
    <p:sldId id="518" r:id="rId20"/>
    <p:sldId id="519" r:id="rId21"/>
    <p:sldId id="520" r:id="rId22"/>
    <p:sldId id="521" r:id="rId23"/>
    <p:sldId id="483" r:id="rId24"/>
    <p:sldId id="522" r:id="rId25"/>
    <p:sldId id="523" r:id="rId26"/>
    <p:sldId id="524" r:id="rId27"/>
    <p:sldId id="525" r:id="rId28"/>
    <p:sldId id="408" r:id="rId29"/>
    <p:sldId id="526" r:id="rId30"/>
    <p:sldId id="529" r:id="rId31"/>
    <p:sldId id="530" r:id="rId32"/>
    <p:sldId id="527" r:id="rId33"/>
    <p:sldId id="528" r:id="rId34"/>
    <p:sldId id="531" r:id="rId35"/>
    <p:sldId id="409" r:id="rId36"/>
    <p:sldId id="532" r:id="rId37"/>
    <p:sldId id="535" r:id="rId38"/>
    <p:sldId id="533" r:id="rId39"/>
    <p:sldId id="534" r:id="rId40"/>
    <p:sldId id="536" r:id="rId41"/>
    <p:sldId id="537" r:id="rId42"/>
    <p:sldId id="538" r:id="rId43"/>
    <p:sldId id="539" r:id="rId44"/>
    <p:sldId id="540" r:id="rId45"/>
    <p:sldId id="541" r:id="rId46"/>
  </p:sldIdLst>
  <p:sldSz cx="9144000" cy="6858000" type="letter"/>
  <p:notesSz cx="6858000" cy="9144000"/>
  <p:defaultTextStyle>
    <a:defPPr>
      <a:defRPr lang="en-CA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77228"/>
    <a:srgbClr val="6E792B"/>
    <a:srgbClr val="76822E"/>
    <a:srgbClr val="4F571F"/>
    <a:srgbClr val="6F6A07"/>
    <a:srgbClr val="827C08"/>
    <a:srgbClr val="800000"/>
    <a:srgbClr val="0000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Objects="1">
      <p:cViewPr varScale="1">
        <p:scale>
          <a:sx n="61" d="100"/>
          <a:sy n="61" d="100"/>
        </p:scale>
        <p:origin x="1572" y="54"/>
      </p:cViewPr>
      <p:guideLst>
        <p:guide orient="horz" pos="19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-2706"/>
    </p:cViewPr>
  </p:sorterViewPr>
  <p:notesViewPr>
    <p:cSldViewPr snapToObjects="1">
      <p:cViewPr>
        <p:scale>
          <a:sx n="100" d="100"/>
          <a:sy n="100" d="100"/>
        </p:scale>
        <p:origin x="-780" y="2172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1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 dirty="0">
                <a:latin typeface="Tahoma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CA" dirty="0"/>
          </a:p>
        </p:txBody>
      </p:sp>
      <p:sp>
        <p:nvSpPr>
          <p:cNvPr id="6041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 dirty="0">
                <a:latin typeface="Tahoma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CA" dirty="0"/>
          </a:p>
        </p:txBody>
      </p:sp>
      <p:sp>
        <p:nvSpPr>
          <p:cNvPr id="6042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 dirty="0">
                <a:latin typeface="Tahoma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CA" dirty="0"/>
          </a:p>
        </p:txBody>
      </p:sp>
      <p:sp>
        <p:nvSpPr>
          <p:cNvPr id="6042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Tahoma" panose="020B0604030504040204" pitchFamily="34" charset="0"/>
              </a:defRPr>
            </a:lvl1pPr>
          </a:lstStyle>
          <a:p>
            <a:pPr>
              <a:defRPr/>
            </a:pPr>
            <a:fld id="{1271EECE-31E1-4A23-8A4F-3405257CBF2E}" type="slidenum">
              <a:rPr lang="en-CA" altLang="en-US"/>
              <a:pPr>
                <a:defRPr/>
              </a:pPr>
              <a:t>‹#›</a:t>
            </a:fld>
            <a:endParaRPr lang="en-CA" altLang="en-US" dirty="0"/>
          </a:p>
        </p:txBody>
      </p:sp>
    </p:spTree>
    <p:extLst>
      <p:ext uri="{BB962C8B-B14F-4D97-AF65-F5344CB8AC3E}">
        <p14:creationId xmlns:p14="http://schemas.microsoft.com/office/powerpoint/2010/main" val="414477750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 dirty="0">
                <a:latin typeface="Tahoma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CA" dirty="0"/>
          </a:p>
        </p:txBody>
      </p:sp>
      <p:sp>
        <p:nvSpPr>
          <p:cNvPr id="6144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 dirty="0">
                <a:latin typeface="Tahoma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CA" dirty="0"/>
          </a:p>
        </p:txBody>
      </p:sp>
      <p:sp>
        <p:nvSpPr>
          <p:cNvPr id="1126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4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CA" noProof="0"/>
              <a:t>Click to edit Master text styles</a:t>
            </a:r>
          </a:p>
          <a:p>
            <a:pPr lvl="1"/>
            <a:r>
              <a:rPr lang="en-CA" noProof="0"/>
              <a:t>Second level</a:t>
            </a:r>
          </a:p>
          <a:p>
            <a:pPr lvl="2"/>
            <a:r>
              <a:rPr lang="en-CA" noProof="0"/>
              <a:t>Third level</a:t>
            </a:r>
          </a:p>
          <a:p>
            <a:pPr lvl="3"/>
            <a:r>
              <a:rPr lang="en-CA" noProof="0"/>
              <a:t>Fourth level</a:t>
            </a:r>
          </a:p>
          <a:p>
            <a:pPr lvl="4"/>
            <a:r>
              <a:rPr lang="en-CA" noProof="0"/>
              <a:t>Fifth level</a:t>
            </a:r>
          </a:p>
        </p:txBody>
      </p:sp>
      <p:sp>
        <p:nvSpPr>
          <p:cNvPr id="6144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 dirty="0">
                <a:latin typeface="Tahoma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CA" dirty="0"/>
          </a:p>
        </p:txBody>
      </p:sp>
      <p:sp>
        <p:nvSpPr>
          <p:cNvPr id="6144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Tahoma" panose="020B0604030504040204" pitchFamily="34" charset="0"/>
              </a:defRPr>
            </a:lvl1pPr>
          </a:lstStyle>
          <a:p>
            <a:pPr>
              <a:defRPr/>
            </a:pPr>
            <a:fld id="{436D5273-BB71-4B6D-8615-6E06E0D77921}" type="slidenum">
              <a:rPr lang="en-CA" altLang="en-US"/>
              <a:pPr>
                <a:defRPr/>
              </a:pPr>
              <a:t>‹#›</a:t>
            </a:fld>
            <a:endParaRPr lang="en-CA" altLang="en-US" dirty="0"/>
          </a:p>
        </p:txBody>
      </p:sp>
    </p:spTree>
    <p:extLst>
      <p:ext uri="{BB962C8B-B14F-4D97-AF65-F5344CB8AC3E}">
        <p14:creationId xmlns:p14="http://schemas.microsoft.com/office/powerpoint/2010/main" val="3425142546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ern="1200">
        <a:solidFill>
          <a:schemeClr val="tx1"/>
        </a:solidFill>
        <a:latin typeface="Arial" charset="0"/>
        <a:ea typeface="MS PGothic" panose="020B0600070205080204" pitchFamily="34" charset="-128"/>
        <a:cs typeface="MS PGothic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MS PGothic" panose="020B0600070205080204" pitchFamily="34" charset="-128"/>
        <a:cs typeface="MS PGothic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anose="020B0600070205080204" pitchFamily="34" charset="-128"/>
        <a:cs typeface="MS PGothic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anose="020B0600070205080204" pitchFamily="34" charset="-128"/>
        <a:cs typeface="MS PGothic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anose="020B0600070205080204" pitchFamily="34" charset="-128"/>
        <a:cs typeface="MS PGothic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3B0FA63F-A25E-4E74-93ED-DD064C27B66C}" type="slidenum">
              <a:rPr lang="en-CA" altLang="en-US" sz="1200" smtClean="0">
                <a:latin typeface="Tahoma" panose="020B0604030504040204" pitchFamily="34" charset="0"/>
              </a:rPr>
              <a:pPr/>
              <a:t>1</a:t>
            </a:fld>
            <a:endParaRPr lang="en-CA" altLang="en-US" sz="1200" dirty="0">
              <a:latin typeface="Tahoma" panose="020B0604030504040204" pitchFamily="34" charset="0"/>
            </a:endParaRPr>
          </a:p>
        </p:txBody>
      </p:sp>
      <p:sp>
        <p:nvSpPr>
          <p:cNvPr id="143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34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4"/>
          <p:cNvSpPr>
            <a:spLocks noChangeArrowheads="1"/>
          </p:cNvSpPr>
          <p:nvPr/>
        </p:nvSpPr>
        <p:spPr bwMode="auto">
          <a:xfrm>
            <a:off x="8305800" y="0"/>
            <a:ext cx="609600" cy="6858000"/>
          </a:xfrm>
          <a:prstGeom prst="rect">
            <a:avLst/>
          </a:prstGeom>
          <a:gradFill rotWithShape="1">
            <a:gsLst>
              <a:gs pos="0">
                <a:srgbClr val="677228">
                  <a:alpha val="43999"/>
                </a:srgbClr>
              </a:gs>
              <a:gs pos="100000">
                <a:srgbClr val="5A6423"/>
              </a:gs>
            </a:gsLst>
            <a:lin ang="5400000" scaled="1"/>
          </a:gradFill>
          <a:ln>
            <a:noFill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endParaRPr lang="en-US" altLang="en-US" dirty="0">
              <a:ea typeface="+mn-ea"/>
            </a:endParaRPr>
          </a:p>
        </p:txBody>
      </p:sp>
      <p:sp>
        <p:nvSpPr>
          <p:cNvPr id="5" name="Rectangle 47"/>
          <p:cNvSpPr>
            <a:spLocks noChangeArrowheads="1"/>
          </p:cNvSpPr>
          <p:nvPr userDrawn="1"/>
        </p:nvSpPr>
        <p:spPr bwMode="auto">
          <a:xfrm rot="16200000">
            <a:off x="3500437" y="-985837"/>
            <a:ext cx="2143125" cy="9144000"/>
          </a:xfrm>
          <a:prstGeom prst="rect">
            <a:avLst/>
          </a:prstGeom>
          <a:solidFill>
            <a:srgbClr val="677228">
              <a:alpha val="43921"/>
            </a:srgbClr>
          </a:solidFill>
          <a:ln>
            <a:noFill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endParaRPr lang="en-US" altLang="en-US" dirty="0">
              <a:ea typeface="+mn-ea"/>
            </a:endParaRPr>
          </a:p>
        </p:txBody>
      </p:sp>
      <p:sp>
        <p:nvSpPr>
          <p:cNvPr id="6" name="Rectangle 48"/>
          <p:cNvSpPr>
            <a:spLocks noChangeArrowheads="1"/>
          </p:cNvSpPr>
          <p:nvPr userDrawn="1"/>
        </p:nvSpPr>
        <p:spPr bwMode="auto">
          <a:xfrm>
            <a:off x="7315200" y="2438400"/>
            <a:ext cx="1828800" cy="229076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endParaRPr lang="en-US" altLang="en-US" dirty="0">
              <a:ea typeface="+mn-ea"/>
            </a:endParaRPr>
          </a:p>
        </p:txBody>
      </p:sp>
      <p:pic>
        <p:nvPicPr>
          <p:cNvPr id="7" name="Picture 35" descr="awtri_4c UPDATE_color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" y="5949950"/>
            <a:ext cx="684213" cy="831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46" descr="elmasri_thumb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19975" y="2514600"/>
            <a:ext cx="1724025" cy="2143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126" name="Rectangle 30" descr="Pink tissue paper"/>
          <p:cNvSpPr>
            <a:spLocks noGrp="1" noChangeArrowheads="1"/>
          </p:cNvSpPr>
          <p:nvPr>
            <p:ph type="ctrTitle" sz="quarter"/>
          </p:nvPr>
        </p:nvSpPr>
        <p:spPr>
          <a:xfrm>
            <a:off x="228600" y="152400"/>
            <a:ext cx="7086600" cy="2286000"/>
          </a:xfrm>
        </p:spPr>
        <p:txBody>
          <a:bodyPr wrap="none" anchor="ctr"/>
          <a:lstStyle>
            <a:lvl1pPr>
              <a:defRPr sz="6600">
                <a:solidFill>
                  <a:srgbClr val="990033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134" name="Rectangle 38" descr="Pink tissue paper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304800" y="2590800"/>
            <a:ext cx="6629400" cy="1905000"/>
          </a:xfrm>
        </p:spPr>
        <p:txBody>
          <a:bodyPr/>
          <a:lstStyle>
            <a:lvl1pPr marL="0" indent="0">
              <a:buFont typeface="Wingdings" pitchFamily="2" charset="2"/>
              <a:buNone/>
              <a:defRPr sz="3200"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9" name="Rectangle 29"/>
          <p:cNvSpPr>
            <a:spLocks noGrp="1" noChangeArrowheads="1"/>
          </p:cNvSpPr>
          <p:nvPr>
            <p:ph type="ftr" sz="quarter" idx="10"/>
          </p:nvPr>
        </p:nvSpPr>
        <p:spPr bwMode="auto">
          <a:xfrm>
            <a:off x="838200" y="6397625"/>
            <a:ext cx="4495800" cy="45720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900" dirty="0"/>
            </a:lvl1pPr>
          </a:lstStyle>
          <a:p>
            <a:pPr>
              <a:defRPr/>
            </a:pPr>
            <a:r>
              <a:rPr lang="en-US" altLang="en-US" dirty="0"/>
              <a:t>Copyright © 2007 Ramez Elmasri and Shamkant B. Navathe</a:t>
            </a:r>
          </a:p>
        </p:txBody>
      </p:sp>
    </p:spTree>
    <p:extLst>
      <p:ext uri="{BB962C8B-B14F-4D97-AF65-F5344CB8AC3E}">
        <p14:creationId xmlns:p14="http://schemas.microsoft.com/office/powerpoint/2010/main" val="1170111654"/>
      </p:ext>
    </p:extLst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1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 dirty="0"/>
            </a:lvl1pPr>
          </a:lstStyle>
          <a:p>
            <a:pPr>
              <a:defRPr/>
            </a:pPr>
            <a:r>
              <a:rPr lang="en-US" altLang="en-US" dirty="0"/>
              <a:t>Slide 23- </a:t>
            </a:r>
            <a:fld id="{2D4306B9-CFD7-4637-81D1-AA1B82412423}" type="slidenum">
              <a:rPr lang="en-US" altLang="en-US" smtClean="0"/>
              <a:pPr>
                <a:defRPr/>
              </a:pPr>
              <a:t>‹#›</a:t>
            </a:fld>
            <a:endParaRPr lang="en-CA" altLang="en-US" dirty="0"/>
          </a:p>
        </p:txBody>
      </p:sp>
    </p:spTree>
    <p:extLst>
      <p:ext uri="{BB962C8B-B14F-4D97-AF65-F5344CB8AC3E}">
        <p14:creationId xmlns:p14="http://schemas.microsoft.com/office/powerpoint/2010/main" val="3720604887"/>
      </p:ext>
    </p:extLst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1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 dirty="0"/>
            </a:lvl1pPr>
          </a:lstStyle>
          <a:p>
            <a:pPr>
              <a:defRPr/>
            </a:pPr>
            <a:r>
              <a:rPr lang="en-US" altLang="en-US" dirty="0"/>
              <a:t>Slide 8- </a:t>
            </a:r>
            <a:fld id="{7A02EE0B-CF5B-49DD-B29C-C82657CC615B}" type="slidenum">
              <a:rPr lang="en-US" altLang="en-US"/>
              <a:pPr>
                <a:defRPr/>
              </a:pPr>
              <a:t>‹#›</a:t>
            </a:fld>
            <a:endParaRPr lang="en-CA" altLang="en-US" dirty="0"/>
          </a:p>
        </p:txBody>
      </p:sp>
    </p:spTree>
    <p:extLst>
      <p:ext uri="{BB962C8B-B14F-4D97-AF65-F5344CB8AC3E}">
        <p14:creationId xmlns:p14="http://schemas.microsoft.com/office/powerpoint/2010/main" val="1058563961"/>
      </p:ext>
    </p:extLst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39713" y="1600200"/>
            <a:ext cx="4070350" cy="45720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62463" y="1600200"/>
            <a:ext cx="4071937" cy="45720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1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 dirty="0"/>
            </a:lvl1pPr>
          </a:lstStyle>
          <a:p>
            <a:pPr>
              <a:defRPr/>
            </a:pPr>
            <a:r>
              <a:rPr lang="en-US" altLang="en-US" dirty="0"/>
              <a:t>Slide 8- </a:t>
            </a:r>
            <a:fld id="{157626D3-FBE7-4AF6-B557-9371DF211786}" type="slidenum">
              <a:rPr lang="en-US" altLang="en-US"/>
              <a:pPr>
                <a:defRPr/>
              </a:pPr>
              <a:t>‹#›</a:t>
            </a:fld>
            <a:endParaRPr lang="en-CA" altLang="en-US" dirty="0"/>
          </a:p>
        </p:txBody>
      </p:sp>
    </p:spTree>
    <p:extLst>
      <p:ext uri="{BB962C8B-B14F-4D97-AF65-F5344CB8AC3E}">
        <p14:creationId xmlns:p14="http://schemas.microsoft.com/office/powerpoint/2010/main" val="2369497274"/>
      </p:ext>
    </p:extLst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1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 dirty="0"/>
            </a:lvl1pPr>
          </a:lstStyle>
          <a:p>
            <a:pPr>
              <a:defRPr/>
            </a:pPr>
            <a:r>
              <a:rPr lang="en-US" altLang="en-US" dirty="0"/>
              <a:t>Slide 8</a:t>
            </a:r>
            <a:fld id="{9A18E815-F6A2-4923-9D65-2D0CBE43B595}" type="slidenum">
              <a:rPr lang="en-US" altLang="en-US"/>
              <a:pPr>
                <a:defRPr/>
              </a:pPr>
              <a:t>‹#›</a:t>
            </a:fld>
            <a:endParaRPr lang="en-CA" altLang="en-US" dirty="0"/>
          </a:p>
        </p:txBody>
      </p:sp>
    </p:spTree>
    <p:extLst>
      <p:ext uri="{BB962C8B-B14F-4D97-AF65-F5344CB8AC3E}">
        <p14:creationId xmlns:p14="http://schemas.microsoft.com/office/powerpoint/2010/main" val="2624315995"/>
      </p:ext>
    </p:extLst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1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 dirty="0"/>
            </a:lvl1pPr>
          </a:lstStyle>
          <a:p>
            <a:pPr>
              <a:defRPr/>
            </a:pPr>
            <a:r>
              <a:rPr lang="en-US" altLang="en-US" dirty="0"/>
              <a:t>Slide 16-</a:t>
            </a:r>
            <a:fld id="{AEE05831-3758-41FE-86C8-A42338BA7B7B}" type="slidenum">
              <a:rPr lang="en-US" altLang="en-US" smtClean="0"/>
              <a:pPr>
                <a:defRPr/>
              </a:pPr>
              <a:t>‹#›</a:t>
            </a:fld>
            <a:endParaRPr lang="en-CA" altLang="en-US" dirty="0"/>
          </a:p>
        </p:txBody>
      </p:sp>
    </p:spTree>
    <p:extLst>
      <p:ext uri="{BB962C8B-B14F-4D97-AF65-F5344CB8AC3E}">
        <p14:creationId xmlns:p14="http://schemas.microsoft.com/office/powerpoint/2010/main" val="3150827538"/>
      </p:ext>
    </p:extLst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 dirty="0"/>
            </a:lvl1pPr>
          </a:lstStyle>
          <a:p>
            <a:pPr>
              <a:defRPr/>
            </a:pPr>
            <a:r>
              <a:rPr lang="en-US" altLang="en-US" dirty="0"/>
              <a:t>Slide 8- </a:t>
            </a:r>
            <a:fld id="{CBCCE3FE-FCB0-427A-BC32-764E10629896}" type="slidenum">
              <a:rPr lang="en-US" altLang="en-US"/>
              <a:pPr>
                <a:defRPr/>
              </a:pPr>
              <a:t>‹#›</a:t>
            </a:fld>
            <a:endParaRPr lang="en-CA" altLang="en-US" dirty="0"/>
          </a:p>
        </p:txBody>
      </p:sp>
    </p:spTree>
    <p:extLst>
      <p:ext uri="{BB962C8B-B14F-4D97-AF65-F5344CB8AC3E}">
        <p14:creationId xmlns:p14="http://schemas.microsoft.com/office/powerpoint/2010/main" val="3650232375"/>
      </p:ext>
    </p:extLst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1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 dirty="0"/>
            </a:lvl1pPr>
          </a:lstStyle>
          <a:p>
            <a:pPr>
              <a:defRPr/>
            </a:pPr>
            <a:r>
              <a:rPr lang="en-US" altLang="en-US" dirty="0"/>
              <a:t>Slide8 </a:t>
            </a:r>
            <a:fld id="{048ADF35-6482-4E07-8BC7-E3CFDF0B9A27}" type="slidenum">
              <a:rPr lang="en-US" altLang="en-US"/>
              <a:pPr>
                <a:defRPr/>
              </a:pPr>
              <a:t>‹#›</a:t>
            </a:fld>
            <a:endParaRPr lang="en-CA" altLang="en-US" dirty="0"/>
          </a:p>
        </p:txBody>
      </p:sp>
    </p:spTree>
    <p:extLst>
      <p:ext uri="{BB962C8B-B14F-4D97-AF65-F5344CB8AC3E}">
        <p14:creationId xmlns:p14="http://schemas.microsoft.com/office/powerpoint/2010/main" val="1296369731"/>
      </p:ext>
    </p:extLst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1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 dirty="0"/>
            </a:lvl1pPr>
          </a:lstStyle>
          <a:p>
            <a:pPr>
              <a:defRPr/>
            </a:pPr>
            <a:r>
              <a:rPr lang="en-US" altLang="en-US" dirty="0"/>
              <a:t>Slide 8</a:t>
            </a:r>
            <a:fld id="{E27E5C42-AAD2-460B-B565-B1930C1CFA80}" type="slidenum">
              <a:rPr lang="en-US" altLang="en-US"/>
              <a:pPr>
                <a:defRPr/>
              </a:pPr>
              <a:t>‹#›</a:t>
            </a:fld>
            <a:endParaRPr lang="en-CA" altLang="en-US" dirty="0"/>
          </a:p>
        </p:txBody>
      </p:sp>
    </p:spTree>
    <p:extLst>
      <p:ext uri="{BB962C8B-B14F-4D97-AF65-F5344CB8AC3E}">
        <p14:creationId xmlns:p14="http://schemas.microsoft.com/office/powerpoint/2010/main" val="1565676810"/>
      </p:ext>
    </p:extLst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en-US" dirty="0"/>
              <a:t>Slide 1- </a:t>
            </a:r>
            <a:fld id="{5A675477-443D-4187-9AD1-B464B649E3F6}" type="slidenum">
              <a:rPr lang="en-US" altLang="en-US"/>
              <a:pPr>
                <a:defRPr/>
              </a:pPr>
              <a:t>‹#›</a:t>
            </a:fld>
            <a:endParaRPr lang="en-CA" altLang="en-US" dirty="0"/>
          </a:p>
        </p:txBody>
      </p:sp>
    </p:spTree>
    <p:extLst>
      <p:ext uri="{BB962C8B-B14F-4D97-AF65-F5344CB8AC3E}">
        <p14:creationId xmlns:p14="http://schemas.microsoft.com/office/powerpoint/2010/main" val="1144559302"/>
      </p:ext>
    </p:extLst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457950" y="303213"/>
            <a:ext cx="2076450" cy="5868987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8600" y="303213"/>
            <a:ext cx="6076950" cy="586898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en-US" dirty="0"/>
              <a:t>Slide 1- </a:t>
            </a:r>
            <a:fld id="{240EB54D-7454-4BE2-BB5F-3722C850C19C}" type="slidenum">
              <a:rPr lang="en-US" altLang="en-US"/>
              <a:pPr>
                <a:defRPr/>
              </a:pPr>
              <a:t>‹#›</a:t>
            </a:fld>
            <a:endParaRPr lang="en-CA" altLang="en-US" dirty="0"/>
          </a:p>
        </p:txBody>
      </p:sp>
    </p:spTree>
    <p:extLst>
      <p:ext uri="{BB962C8B-B14F-4D97-AF65-F5344CB8AC3E}">
        <p14:creationId xmlns:p14="http://schemas.microsoft.com/office/powerpoint/2010/main" val="1267994455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6" name="Group 45"/>
          <p:cNvGrpSpPr>
            <a:grpSpLocks/>
          </p:cNvGrpSpPr>
          <p:nvPr userDrawn="1"/>
        </p:nvGrpSpPr>
        <p:grpSpPr bwMode="auto">
          <a:xfrm>
            <a:off x="8936038" y="1449388"/>
            <a:ext cx="207962" cy="5408612"/>
            <a:chOff x="5606" y="889"/>
            <a:chExt cx="154" cy="3431"/>
          </a:xfrm>
        </p:grpSpPr>
        <p:sp>
          <p:nvSpPr>
            <p:cNvPr id="1032" name="Rectangle 38"/>
            <p:cNvSpPr>
              <a:spLocks noChangeArrowheads="1"/>
            </p:cNvSpPr>
            <p:nvPr userDrawn="1"/>
          </p:nvSpPr>
          <p:spPr bwMode="gray">
            <a:xfrm flipH="1">
              <a:off x="5685" y="889"/>
              <a:ext cx="75" cy="3431"/>
            </a:xfrm>
            <a:prstGeom prst="rect">
              <a:avLst/>
            </a:prstGeom>
            <a:solidFill>
              <a:srgbClr val="677228"/>
            </a:solidFill>
            <a:ln>
              <a:noFill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defRPr/>
              </a:pPr>
              <a:endParaRPr kumimoji="1" lang="en-US" altLang="en-US" sz="3200" dirty="0">
                <a:latin typeface="Tahoma" panose="020B0604030504040204" pitchFamily="34" charset="0"/>
                <a:ea typeface="+mn-ea"/>
              </a:endParaRPr>
            </a:p>
          </p:txBody>
        </p:sp>
        <p:grpSp>
          <p:nvGrpSpPr>
            <p:cNvPr id="1033" name="Group 44"/>
            <p:cNvGrpSpPr>
              <a:grpSpLocks/>
            </p:cNvGrpSpPr>
            <p:nvPr userDrawn="1"/>
          </p:nvGrpSpPr>
          <p:grpSpPr bwMode="auto">
            <a:xfrm>
              <a:off x="5606" y="889"/>
              <a:ext cx="106" cy="3431"/>
              <a:chOff x="5606" y="889"/>
              <a:chExt cx="106" cy="3431"/>
            </a:xfrm>
          </p:grpSpPr>
          <p:sp>
            <p:nvSpPr>
              <p:cNvPr id="1034" name="Rectangle 43"/>
              <p:cNvSpPr>
                <a:spLocks noChangeArrowheads="1"/>
              </p:cNvSpPr>
              <p:nvPr userDrawn="1"/>
            </p:nvSpPr>
            <p:spPr bwMode="gray">
              <a:xfrm rot="10800000" flipH="1">
                <a:off x="5606" y="889"/>
                <a:ext cx="58" cy="3431"/>
              </a:xfrm>
              <a:prstGeom prst="rect">
                <a:avLst/>
              </a:prstGeom>
              <a:solidFill>
                <a:schemeClr val="tx2"/>
              </a:solidFill>
              <a:ln>
                <a:noFill/>
              </a:ln>
            </p:spPr>
            <p:txBody>
              <a:bodyPr rot="10800000"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defRPr/>
                </a:pPr>
                <a:endParaRPr kumimoji="1" lang="en-US" altLang="en-US" sz="3200" dirty="0">
                  <a:latin typeface="Tahoma" panose="020B0604030504040204" pitchFamily="34" charset="0"/>
                  <a:ea typeface="+mn-ea"/>
                </a:endParaRPr>
              </a:p>
            </p:txBody>
          </p:sp>
          <p:sp>
            <p:nvSpPr>
              <p:cNvPr id="1035" name="Rectangle 32"/>
              <p:cNvSpPr>
                <a:spLocks noChangeArrowheads="1"/>
              </p:cNvSpPr>
              <p:nvPr userDrawn="1"/>
            </p:nvSpPr>
            <p:spPr bwMode="gray">
              <a:xfrm rot="10800000" flipH="1">
                <a:off x="5654" y="889"/>
                <a:ext cx="58" cy="3431"/>
              </a:xfrm>
              <a:prstGeom prst="rect">
                <a:avLst/>
              </a:prstGeom>
              <a:solidFill>
                <a:srgbClr val="990033"/>
              </a:solidFill>
              <a:ln>
                <a:noFill/>
              </a:ln>
            </p:spPr>
            <p:txBody>
              <a:bodyPr rot="10800000"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defRPr/>
                </a:pPr>
                <a:endParaRPr kumimoji="1" lang="en-US" altLang="en-US" sz="3200" dirty="0">
                  <a:latin typeface="Tahoma" panose="020B0604030504040204" pitchFamily="34" charset="0"/>
                  <a:ea typeface="+mn-ea"/>
                </a:endParaRPr>
              </a:p>
            </p:txBody>
          </p:sp>
        </p:grpSp>
      </p:grpSp>
      <p:sp>
        <p:nvSpPr>
          <p:cNvPr id="1027" name="Rectangle 37"/>
          <p:cNvSpPr>
            <a:spLocks noChangeArrowheads="1"/>
          </p:cNvSpPr>
          <p:nvPr userDrawn="1"/>
        </p:nvSpPr>
        <p:spPr bwMode="gray">
          <a:xfrm rot="-5400000">
            <a:off x="3845719" y="-3845719"/>
            <a:ext cx="1449388" cy="9140825"/>
          </a:xfrm>
          <a:prstGeom prst="rect">
            <a:avLst/>
          </a:prstGeom>
          <a:solidFill>
            <a:srgbClr val="677228">
              <a:alpha val="36078"/>
            </a:srgbClr>
          </a:solidFill>
          <a:ln>
            <a:noFill/>
          </a:ln>
        </p:spPr>
        <p:txBody>
          <a:bodyPr vert="eaVert"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endParaRPr kumimoji="1" lang="en-US" altLang="en-US" sz="3200" dirty="0">
              <a:latin typeface="Tahoma" panose="020B0604030504040204" pitchFamily="34" charset="0"/>
              <a:ea typeface="+mn-ea"/>
            </a:endParaRPr>
          </a:p>
        </p:txBody>
      </p:sp>
      <p:sp>
        <p:nvSpPr>
          <p:cNvPr id="1028" name="Rectangle 9"/>
          <p:cNvSpPr>
            <a:spLocks noGrp="1" noChangeArrowheads="1"/>
          </p:cNvSpPr>
          <p:nvPr>
            <p:ph type="title"/>
          </p:nvPr>
        </p:nvSpPr>
        <p:spPr bwMode="auto">
          <a:xfrm>
            <a:off x="228600" y="303213"/>
            <a:ext cx="7796213" cy="9921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3085" name="Rectangle 13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934200" y="64008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400" b="1" dirty="0">
                <a:solidFill>
                  <a:srgbClr val="990033"/>
                </a:solidFill>
              </a:defRPr>
            </a:lvl1pPr>
          </a:lstStyle>
          <a:p>
            <a:pPr>
              <a:defRPr/>
            </a:pPr>
            <a:r>
              <a:rPr lang="en-US" altLang="en-US" dirty="0"/>
              <a:t>Slide 1- </a:t>
            </a:r>
            <a:fld id="{9329CBBA-874A-4F55-ABEE-07EF29FD710E}" type="slidenum">
              <a:rPr lang="en-US" altLang="en-US"/>
              <a:pPr>
                <a:defRPr/>
              </a:pPr>
              <a:t>‹#›</a:t>
            </a:fld>
            <a:endParaRPr lang="en-CA" altLang="en-US" dirty="0"/>
          </a:p>
        </p:txBody>
      </p:sp>
      <p:sp>
        <p:nvSpPr>
          <p:cNvPr id="1030" name="Rectangle 21"/>
          <p:cNvSpPr>
            <a:spLocks noGrp="1" noChangeArrowheads="1"/>
          </p:cNvSpPr>
          <p:nvPr>
            <p:ph type="body" idx="1"/>
          </p:nvPr>
        </p:nvSpPr>
        <p:spPr bwMode="auto">
          <a:xfrm>
            <a:off x="239713" y="1600200"/>
            <a:ext cx="8294687" cy="457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1031" name="Rectangle 30"/>
          <p:cNvSpPr>
            <a:spLocks noChangeArrowheads="1"/>
          </p:cNvSpPr>
          <p:nvPr/>
        </p:nvSpPr>
        <p:spPr bwMode="auto">
          <a:xfrm>
            <a:off x="838200" y="6397625"/>
            <a:ext cx="4495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b"/>
          <a:lstStyle>
            <a:lvl1pPr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9pPr>
          </a:lstStyle>
          <a:p>
            <a:pPr eaLnBrk="1" hangingPunct="1">
              <a:defRPr/>
            </a:pPr>
            <a:r>
              <a:rPr lang="en-US" altLang="en-US" sz="900" dirty="0"/>
              <a:t>Copyright © 2016 Ramez Elmasri and Shamkant B. Navathe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020" r:id="rId1"/>
    <p:sldLayoutId id="2147484021" r:id="rId2"/>
    <p:sldLayoutId id="2147484022" r:id="rId3"/>
    <p:sldLayoutId id="2147484023" r:id="rId4"/>
    <p:sldLayoutId id="2147484024" r:id="rId5"/>
    <p:sldLayoutId id="2147484025" r:id="rId6"/>
    <p:sldLayoutId id="2147484026" r:id="rId7"/>
    <p:sldLayoutId id="2147484027" r:id="rId8"/>
    <p:sldLayoutId id="2147484028" r:id="rId9"/>
    <p:sldLayoutId id="2147484018" r:id="rId10"/>
    <p:sldLayoutId id="2147484019" r:id="rId11"/>
  </p:sldLayoutIdLst>
  <p:transition spd="med"/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600">
          <a:solidFill>
            <a:srgbClr val="800000"/>
          </a:solidFill>
          <a:latin typeface="+mj-lt"/>
          <a:ea typeface="MS PGothic" panose="020B0600070205080204" pitchFamily="34" charset="-128"/>
          <a:cs typeface="MS PGothic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600">
          <a:solidFill>
            <a:srgbClr val="800000"/>
          </a:solidFill>
          <a:latin typeface="Arial" charset="0"/>
          <a:ea typeface="MS PGothic" panose="020B0600070205080204" pitchFamily="34" charset="-128"/>
          <a:cs typeface="MS PGothic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600">
          <a:solidFill>
            <a:srgbClr val="800000"/>
          </a:solidFill>
          <a:latin typeface="Arial" charset="0"/>
          <a:ea typeface="MS PGothic" panose="020B0600070205080204" pitchFamily="34" charset="-128"/>
          <a:cs typeface="MS PGothic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600">
          <a:solidFill>
            <a:srgbClr val="800000"/>
          </a:solidFill>
          <a:latin typeface="Arial" charset="0"/>
          <a:ea typeface="MS PGothic" panose="020B0600070205080204" pitchFamily="34" charset="-128"/>
          <a:cs typeface="MS PGothic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600">
          <a:solidFill>
            <a:srgbClr val="800000"/>
          </a:solidFill>
          <a:latin typeface="Arial" charset="0"/>
          <a:ea typeface="MS PGothic" panose="020B0600070205080204" pitchFamily="34" charset="-128"/>
          <a:cs typeface="MS PGothic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600">
          <a:solidFill>
            <a:srgbClr val="800000"/>
          </a:solidFill>
          <a:latin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600">
          <a:solidFill>
            <a:srgbClr val="800000"/>
          </a:solidFill>
          <a:latin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600">
          <a:solidFill>
            <a:srgbClr val="800000"/>
          </a:solidFill>
          <a:latin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600">
          <a:solidFill>
            <a:srgbClr val="800000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990033"/>
        </a:buClr>
        <a:buSzPct val="60000"/>
        <a:buFont typeface="Wingdings" panose="05000000000000000000" pitchFamily="2" charset="2"/>
        <a:buChar char="n"/>
        <a:defRPr sz="2800">
          <a:solidFill>
            <a:schemeClr val="tx2"/>
          </a:solidFill>
          <a:latin typeface="+mn-lt"/>
          <a:ea typeface="MS PGothic" panose="020B0600070205080204" pitchFamily="34" charset="-128"/>
          <a:cs typeface="MS PGothic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55000"/>
        <a:buFont typeface="Wingdings" panose="05000000000000000000" pitchFamily="2" charset="2"/>
        <a:buChar char="n"/>
        <a:defRPr sz="2600">
          <a:solidFill>
            <a:srgbClr val="800000"/>
          </a:solidFill>
          <a:latin typeface="+mn-lt"/>
          <a:ea typeface="MS PGothic" panose="020B0600070205080204" pitchFamily="34" charset="-128"/>
          <a:cs typeface="MS PGothic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990033"/>
        </a:buClr>
        <a:buSzPct val="50000"/>
        <a:buFont typeface="Wingdings" panose="05000000000000000000" pitchFamily="2" charset="2"/>
        <a:buChar char="n"/>
        <a:defRPr sz="2400">
          <a:solidFill>
            <a:schemeClr val="tx2"/>
          </a:solidFill>
          <a:latin typeface="+mn-lt"/>
          <a:ea typeface="MS PGothic" panose="020B0600070205080204" pitchFamily="34" charset="-128"/>
          <a:cs typeface="MS PGothic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55000"/>
        <a:buFont typeface="Wingdings" panose="05000000000000000000" pitchFamily="2" charset="2"/>
        <a:buChar char="n"/>
        <a:defRPr sz="2000">
          <a:solidFill>
            <a:srgbClr val="800000"/>
          </a:solidFill>
          <a:latin typeface="+mn-lt"/>
          <a:ea typeface="MS PGothic" panose="020B0600070205080204" pitchFamily="34" charset="-128"/>
          <a:cs typeface="MS PGothic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990033"/>
        </a:buClr>
        <a:buSzPct val="50000"/>
        <a:buFont typeface="Wingdings" panose="05000000000000000000" pitchFamily="2" charset="2"/>
        <a:buChar char="n"/>
        <a:defRPr sz="2000">
          <a:solidFill>
            <a:schemeClr val="tx2"/>
          </a:solidFill>
          <a:latin typeface="+mn-lt"/>
          <a:ea typeface="MS PGothic" panose="020B0600070205080204" pitchFamily="34" charset="-128"/>
          <a:cs typeface="MS PGothic" charset="0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rgbClr val="990033"/>
        </a:buClr>
        <a:buSzPct val="50000"/>
        <a:buFont typeface="Wingdings" pitchFamily="2" charset="2"/>
        <a:buChar char="n"/>
        <a:defRPr sz="2000">
          <a:solidFill>
            <a:schemeClr val="tx2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rgbClr val="990033"/>
        </a:buClr>
        <a:buSzPct val="50000"/>
        <a:buFont typeface="Wingdings" pitchFamily="2" charset="2"/>
        <a:buChar char="n"/>
        <a:defRPr sz="2000">
          <a:solidFill>
            <a:schemeClr val="tx2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rgbClr val="990033"/>
        </a:buClr>
        <a:buSzPct val="50000"/>
        <a:buFont typeface="Wingdings" pitchFamily="2" charset="2"/>
        <a:buChar char="n"/>
        <a:defRPr sz="2000">
          <a:solidFill>
            <a:schemeClr val="tx2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rgbClr val="990033"/>
        </a:buClr>
        <a:buSzPct val="50000"/>
        <a:buFont typeface="Wingdings" pitchFamily="2" charset="2"/>
        <a:buChar char="n"/>
        <a:defRPr sz="2000">
          <a:solidFill>
            <a:schemeClr val="tx2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14" name="Picture 11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28950" y="1516063"/>
            <a:ext cx="3892550" cy="4840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Subtitl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ctr">
              <a:buFont typeface="Wingdings" panose="05000000000000000000" pitchFamily="2" charset="2"/>
              <a:buNone/>
            </a:pPr>
            <a:endParaRPr lang="en-US" altLang="en-US" b="1" dirty="0"/>
          </a:p>
          <a:p>
            <a:pPr marL="0" indent="0" algn="ctr">
              <a:buFont typeface="Wingdings" panose="05000000000000000000" pitchFamily="2" charset="2"/>
              <a:buNone/>
            </a:pPr>
            <a:endParaRPr lang="en-US" altLang="en-US" b="1" dirty="0"/>
          </a:p>
          <a:p>
            <a:pPr marL="0" indent="0" algn="ctr">
              <a:buFont typeface="Wingdings" panose="05000000000000000000" pitchFamily="2" charset="2"/>
              <a:buNone/>
            </a:pPr>
            <a:r>
              <a:rPr lang="en-US" altLang="en-US" sz="3200" b="1" dirty="0"/>
              <a:t>CHAPTER 24</a:t>
            </a:r>
          </a:p>
          <a:p>
            <a:pPr marL="0" indent="0" algn="ctr">
              <a:buFont typeface="Wingdings" panose="05000000000000000000" pitchFamily="2" charset="2"/>
              <a:buNone/>
            </a:pPr>
            <a:endParaRPr lang="en-US" altLang="en-US" b="1" dirty="0"/>
          </a:p>
          <a:p>
            <a:pPr marL="0" indent="0" algn="ctr">
              <a:buNone/>
            </a:pPr>
            <a:r>
              <a:rPr lang="en-US" altLang="en-US" sz="3600" b="1" dirty="0"/>
              <a:t>NOSQL Databases</a:t>
            </a:r>
          </a:p>
          <a:p>
            <a:pPr marL="0" indent="0" algn="ctr">
              <a:buNone/>
            </a:pPr>
            <a:r>
              <a:rPr lang="en-US" altLang="en-US" sz="3600" b="1" dirty="0"/>
              <a:t>and Big Data Storage Systems</a:t>
            </a: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NOSQL</a:t>
            </a:r>
          </a:p>
          <a:p>
            <a:pPr lvl="1"/>
            <a:r>
              <a:rPr lang="en-US" dirty="0"/>
              <a:t>Not only SQL</a:t>
            </a:r>
          </a:p>
          <a:p>
            <a:pPr lvl="1"/>
            <a:r>
              <a:rPr lang="en-US" dirty="0"/>
              <a:t>SQL systems offer many features (not everyone will use) and restrictive</a:t>
            </a:r>
          </a:p>
          <a:p>
            <a:r>
              <a:rPr lang="en-US" dirty="0"/>
              <a:t>Most NOSQL systems are distributed databases or distributed storage systems</a:t>
            </a:r>
          </a:p>
          <a:p>
            <a:pPr lvl="1"/>
            <a:r>
              <a:rPr lang="en-US" dirty="0"/>
              <a:t>Focus on semi-structured data storage, high performance, availability, data replication, and scalability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en-US" dirty="0"/>
              <a:t>Slide 24- </a:t>
            </a:r>
            <a:fld id="{2D4306B9-CFD7-4637-81D1-AA1B82412423}" type="slidenum">
              <a:rPr lang="en-US" altLang="en-US" smtClean="0"/>
              <a:pPr>
                <a:defRPr/>
              </a:pPr>
              <a:t>3</a:t>
            </a:fld>
            <a:endParaRPr lang="en-CA" altLang="en-US" dirty="0"/>
          </a:p>
        </p:txBody>
      </p:sp>
    </p:spTree>
    <p:extLst>
      <p:ext uri="{BB962C8B-B14F-4D97-AF65-F5344CB8AC3E}">
        <p14:creationId xmlns:p14="http://schemas.microsoft.com/office/powerpoint/2010/main" val="477095186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Introduction (cont’d.)</a:t>
            </a:r>
          </a:p>
        </p:txBody>
      </p:sp>
      <p:sp>
        <p:nvSpPr>
          <p:cNvPr id="38915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NOSQL systems focus on storage of “big data”</a:t>
            </a:r>
          </a:p>
          <a:p>
            <a:r>
              <a:rPr lang="en-US" altLang="en-US" dirty="0"/>
              <a:t>Typical applications that use NOSQL</a:t>
            </a:r>
          </a:p>
          <a:p>
            <a:pPr lvl="1"/>
            <a:r>
              <a:rPr lang="en-US" altLang="en-US" dirty="0"/>
              <a:t>Social media</a:t>
            </a:r>
          </a:p>
          <a:p>
            <a:pPr lvl="1"/>
            <a:r>
              <a:rPr lang="en-US" altLang="en-US" dirty="0"/>
              <a:t>Web links</a:t>
            </a:r>
          </a:p>
          <a:p>
            <a:pPr lvl="1"/>
            <a:r>
              <a:rPr lang="en-US" altLang="en-US" dirty="0"/>
              <a:t>User profiles</a:t>
            </a:r>
          </a:p>
          <a:p>
            <a:pPr lvl="1"/>
            <a:r>
              <a:rPr lang="en-US" altLang="en-US" dirty="0"/>
              <a:t>Marketing and sales</a:t>
            </a:r>
          </a:p>
          <a:p>
            <a:pPr lvl="1"/>
            <a:r>
              <a:rPr lang="en-US" altLang="en-US" dirty="0"/>
              <a:t>Posts and tweets</a:t>
            </a:r>
          </a:p>
          <a:p>
            <a:pPr lvl="1"/>
            <a:r>
              <a:rPr lang="en-US" altLang="en-US" dirty="0"/>
              <a:t>Road maps and spatial data</a:t>
            </a:r>
          </a:p>
          <a:p>
            <a:pPr lvl="1"/>
            <a:r>
              <a:rPr lang="en-US" altLang="en-US" dirty="0"/>
              <a:t>Email</a:t>
            </a:r>
          </a:p>
        </p:txBody>
      </p:sp>
      <p:sp>
        <p:nvSpPr>
          <p:cNvPr id="38916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990033"/>
              </a:buClr>
              <a:buSzPct val="60000"/>
              <a:buFont typeface="Wingdings" panose="05000000000000000000" pitchFamily="2" charset="2"/>
              <a:buChar char="n"/>
              <a:defRPr sz="28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tx2"/>
              </a:buClr>
              <a:buSzPct val="55000"/>
              <a:buFont typeface="Wingdings" panose="05000000000000000000" pitchFamily="2" charset="2"/>
              <a:buChar char="n"/>
              <a:defRPr sz="2600">
                <a:solidFill>
                  <a:srgbClr val="800000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rgbClr val="800000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400" dirty="0">
                <a:solidFill>
                  <a:srgbClr val="990033"/>
                </a:solidFill>
              </a:rPr>
              <a:t>Slide 24- </a:t>
            </a:r>
            <a:fld id="{852D8B88-38B0-4796-B84B-53B099FD8987}" type="slidenum">
              <a:rPr lang="en-US" altLang="en-US" sz="1400" smtClean="0">
                <a:solidFill>
                  <a:srgbClr val="990033"/>
                </a:solidFill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4</a:t>
            </a:fld>
            <a:endParaRPr lang="en-CA" altLang="en-US" sz="1400" dirty="0">
              <a:solidFill>
                <a:srgbClr val="99003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11789210"/>
      </p:ext>
    </p:extLst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24.1 Introduction to NOSQL Systems</a:t>
            </a:r>
          </a:p>
        </p:txBody>
      </p:sp>
      <p:sp>
        <p:nvSpPr>
          <p:cNvPr id="16387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dirty="0"/>
              <a:t>BigTable</a:t>
            </a:r>
          </a:p>
          <a:p>
            <a:pPr lvl="1"/>
            <a:r>
              <a:rPr lang="en-US" altLang="en-US" dirty="0"/>
              <a:t>Google’s proprietary NOSQL system</a:t>
            </a:r>
          </a:p>
          <a:p>
            <a:pPr lvl="1"/>
            <a:r>
              <a:rPr lang="en-US" altLang="en-US" dirty="0"/>
              <a:t>Column-based or wide column store</a:t>
            </a:r>
          </a:p>
          <a:p>
            <a:r>
              <a:rPr lang="en-US" altLang="en-US" dirty="0"/>
              <a:t>DynamoDB (Amazon)</a:t>
            </a:r>
          </a:p>
          <a:p>
            <a:pPr lvl="1"/>
            <a:r>
              <a:rPr lang="en-US" altLang="en-US" dirty="0"/>
              <a:t>Key-value data store</a:t>
            </a:r>
          </a:p>
          <a:p>
            <a:r>
              <a:rPr lang="en-US" altLang="en-US" dirty="0"/>
              <a:t>Cassandra (Facebook)</a:t>
            </a:r>
          </a:p>
          <a:p>
            <a:pPr lvl="1"/>
            <a:r>
              <a:rPr lang="en-US" altLang="en-US" dirty="0"/>
              <a:t>Uses concepts from both key-value store and column-based systems</a:t>
            </a:r>
          </a:p>
        </p:txBody>
      </p:sp>
      <p:sp>
        <p:nvSpPr>
          <p:cNvPr id="16388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990033"/>
              </a:buClr>
              <a:buSzPct val="60000"/>
              <a:buFont typeface="Wingdings" panose="05000000000000000000" pitchFamily="2" charset="2"/>
              <a:buChar char="n"/>
              <a:defRPr sz="28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tx2"/>
              </a:buClr>
              <a:buSzPct val="55000"/>
              <a:buFont typeface="Wingdings" panose="05000000000000000000" pitchFamily="2" charset="2"/>
              <a:buChar char="n"/>
              <a:defRPr sz="2600">
                <a:solidFill>
                  <a:srgbClr val="800000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rgbClr val="800000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400" dirty="0">
                <a:solidFill>
                  <a:srgbClr val="990033"/>
                </a:solidFill>
              </a:rPr>
              <a:t>Slide 24- </a:t>
            </a:r>
            <a:fld id="{0B0EFBA8-7B15-49AB-B8C6-B2D1A2772BF4}" type="slidenum">
              <a:rPr lang="en-US" altLang="en-US" sz="1400" smtClean="0">
                <a:solidFill>
                  <a:srgbClr val="990033"/>
                </a:solidFill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5</a:t>
            </a:fld>
            <a:endParaRPr lang="en-CA" altLang="en-US" sz="1400" dirty="0">
              <a:solidFill>
                <a:srgbClr val="990033"/>
              </a:solidFill>
            </a:endParaRPr>
          </a:p>
        </p:txBody>
      </p: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Introduction to NOSQL Systems (cont’d.)</a:t>
            </a:r>
          </a:p>
        </p:txBody>
      </p:sp>
      <p:sp>
        <p:nvSpPr>
          <p:cNvPr id="16387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dirty="0"/>
              <a:t>MongoDB and CouchDB</a:t>
            </a:r>
          </a:p>
          <a:p>
            <a:pPr lvl="1"/>
            <a:r>
              <a:rPr lang="en-US" altLang="en-US" dirty="0"/>
              <a:t>Document stores</a:t>
            </a:r>
          </a:p>
          <a:p>
            <a:r>
              <a:rPr lang="en-US" altLang="en-US" dirty="0"/>
              <a:t>Neo4J and GraphBase</a:t>
            </a:r>
          </a:p>
          <a:p>
            <a:pPr lvl="1"/>
            <a:r>
              <a:rPr lang="en-US" altLang="en-US" dirty="0"/>
              <a:t>Graph-based NOSQL systems</a:t>
            </a:r>
          </a:p>
          <a:p>
            <a:r>
              <a:rPr lang="en-US" altLang="en-US" dirty="0"/>
              <a:t>OrientDB</a:t>
            </a:r>
          </a:p>
          <a:p>
            <a:pPr lvl="1"/>
            <a:r>
              <a:rPr lang="en-US" altLang="en-US" dirty="0"/>
              <a:t>Combines several concepts</a:t>
            </a:r>
          </a:p>
          <a:p>
            <a:r>
              <a:rPr lang="en-US" altLang="en-US" dirty="0"/>
              <a:t>Database systems classified on the object model</a:t>
            </a:r>
          </a:p>
          <a:p>
            <a:pPr lvl="1"/>
            <a:r>
              <a:rPr lang="en-US" altLang="en-US" dirty="0"/>
              <a:t>Or native XML model</a:t>
            </a:r>
          </a:p>
          <a:p>
            <a:pPr lvl="1"/>
            <a:endParaRPr lang="en-US" altLang="en-US" dirty="0"/>
          </a:p>
        </p:txBody>
      </p:sp>
      <p:sp>
        <p:nvSpPr>
          <p:cNvPr id="16388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990033"/>
              </a:buClr>
              <a:buSzPct val="60000"/>
              <a:buFont typeface="Wingdings" panose="05000000000000000000" pitchFamily="2" charset="2"/>
              <a:buChar char="n"/>
              <a:defRPr sz="28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tx2"/>
              </a:buClr>
              <a:buSzPct val="55000"/>
              <a:buFont typeface="Wingdings" panose="05000000000000000000" pitchFamily="2" charset="2"/>
              <a:buChar char="n"/>
              <a:defRPr sz="2600">
                <a:solidFill>
                  <a:srgbClr val="800000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rgbClr val="800000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400" dirty="0">
                <a:solidFill>
                  <a:srgbClr val="990033"/>
                </a:solidFill>
              </a:rPr>
              <a:t>Slide 24- </a:t>
            </a:r>
            <a:fld id="{0B0EFBA8-7B15-49AB-B8C6-B2D1A2772BF4}" type="slidenum">
              <a:rPr lang="en-US" altLang="en-US" sz="1400" smtClean="0">
                <a:solidFill>
                  <a:srgbClr val="990033"/>
                </a:solidFill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6</a:t>
            </a:fld>
            <a:endParaRPr lang="en-CA" altLang="en-US" sz="1400" dirty="0">
              <a:solidFill>
                <a:srgbClr val="99003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88526249"/>
      </p:ext>
    </p:extLst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Introduction to NOSQL Systems (cont’d.)</a:t>
            </a:r>
          </a:p>
        </p:txBody>
      </p:sp>
      <p:sp>
        <p:nvSpPr>
          <p:cNvPr id="16387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dirty="0"/>
              <a:t>NOSQL characteristics related to distributed databases and distributed systems</a:t>
            </a:r>
          </a:p>
          <a:p>
            <a:pPr lvl="1"/>
            <a:r>
              <a:rPr lang="en-US" altLang="en-US" dirty="0"/>
              <a:t>Scalability</a:t>
            </a:r>
          </a:p>
          <a:p>
            <a:pPr lvl="1"/>
            <a:r>
              <a:rPr lang="en-US" altLang="en-US" dirty="0"/>
              <a:t>Availability, replication, and eventual consistency</a:t>
            </a:r>
          </a:p>
          <a:p>
            <a:pPr lvl="1"/>
            <a:r>
              <a:rPr lang="en-US" altLang="en-US" dirty="0"/>
              <a:t>Replication models</a:t>
            </a:r>
          </a:p>
          <a:p>
            <a:pPr lvl="2"/>
            <a:r>
              <a:rPr lang="en-US" altLang="en-US" dirty="0"/>
              <a:t>Master-slave</a:t>
            </a:r>
          </a:p>
          <a:p>
            <a:pPr lvl="2"/>
            <a:r>
              <a:rPr lang="en-US" altLang="en-US" dirty="0"/>
              <a:t>Master-master</a:t>
            </a:r>
          </a:p>
          <a:p>
            <a:pPr lvl="1"/>
            <a:r>
              <a:rPr lang="en-US" altLang="en-US" dirty="0"/>
              <a:t>Sharding of files</a:t>
            </a:r>
          </a:p>
          <a:p>
            <a:pPr lvl="1"/>
            <a:r>
              <a:rPr lang="en-US" altLang="en-US" dirty="0"/>
              <a:t>High performance data access</a:t>
            </a:r>
          </a:p>
          <a:p>
            <a:pPr lvl="1"/>
            <a:endParaRPr lang="en-US" altLang="en-US" dirty="0"/>
          </a:p>
        </p:txBody>
      </p:sp>
      <p:sp>
        <p:nvSpPr>
          <p:cNvPr id="16388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990033"/>
              </a:buClr>
              <a:buSzPct val="60000"/>
              <a:buFont typeface="Wingdings" panose="05000000000000000000" pitchFamily="2" charset="2"/>
              <a:buChar char="n"/>
              <a:defRPr sz="28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tx2"/>
              </a:buClr>
              <a:buSzPct val="55000"/>
              <a:buFont typeface="Wingdings" panose="05000000000000000000" pitchFamily="2" charset="2"/>
              <a:buChar char="n"/>
              <a:defRPr sz="2600">
                <a:solidFill>
                  <a:srgbClr val="800000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rgbClr val="800000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400" dirty="0">
                <a:solidFill>
                  <a:srgbClr val="990033"/>
                </a:solidFill>
              </a:rPr>
              <a:t>Slide 24- </a:t>
            </a:r>
            <a:fld id="{0B0EFBA8-7B15-49AB-B8C6-B2D1A2772BF4}" type="slidenum">
              <a:rPr lang="en-US" altLang="en-US" sz="1400" smtClean="0">
                <a:solidFill>
                  <a:srgbClr val="990033"/>
                </a:solidFill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7</a:t>
            </a:fld>
            <a:endParaRPr lang="en-CA" altLang="en-US" sz="1400" dirty="0">
              <a:solidFill>
                <a:srgbClr val="99003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58423742"/>
      </p:ext>
    </p:extLst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Introduction to NOSQL Systems (cont’d.)</a:t>
            </a:r>
          </a:p>
        </p:txBody>
      </p:sp>
      <p:sp>
        <p:nvSpPr>
          <p:cNvPr id="16387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dirty="0"/>
              <a:t>NOSQL characteristics related to data models and query languages</a:t>
            </a:r>
          </a:p>
          <a:p>
            <a:pPr lvl="1"/>
            <a:r>
              <a:rPr lang="en-US" altLang="en-US" dirty="0"/>
              <a:t>Schema not required</a:t>
            </a:r>
          </a:p>
          <a:p>
            <a:pPr lvl="1"/>
            <a:r>
              <a:rPr lang="en-US" altLang="en-US" dirty="0"/>
              <a:t>Less powerful query languages</a:t>
            </a:r>
          </a:p>
          <a:p>
            <a:pPr lvl="1"/>
            <a:r>
              <a:rPr lang="en-US" altLang="en-US" dirty="0"/>
              <a:t>Versioning</a:t>
            </a:r>
          </a:p>
          <a:p>
            <a:pPr lvl="1"/>
            <a:endParaRPr lang="en-US" altLang="en-US" dirty="0"/>
          </a:p>
        </p:txBody>
      </p:sp>
      <p:sp>
        <p:nvSpPr>
          <p:cNvPr id="16388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990033"/>
              </a:buClr>
              <a:buSzPct val="60000"/>
              <a:buFont typeface="Wingdings" panose="05000000000000000000" pitchFamily="2" charset="2"/>
              <a:buChar char="n"/>
              <a:defRPr sz="28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tx2"/>
              </a:buClr>
              <a:buSzPct val="55000"/>
              <a:buFont typeface="Wingdings" panose="05000000000000000000" pitchFamily="2" charset="2"/>
              <a:buChar char="n"/>
              <a:defRPr sz="2600">
                <a:solidFill>
                  <a:srgbClr val="800000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rgbClr val="800000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400" dirty="0">
                <a:solidFill>
                  <a:srgbClr val="990033"/>
                </a:solidFill>
              </a:rPr>
              <a:t>Slide 24- </a:t>
            </a:r>
            <a:fld id="{0B0EFBA8-7B15-49AB-B8C6-B2D1A2772BF4}" type="slidenum">
              <a:rPr lang="en-US" altLang="en-US" sz="1400" smtClean="0">
                <a:solidFill>
                  <a:srgbClr val="990033"/>
                </a:solidFill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8</a:t>
            </a:fld>
            <a:endParaRPr lang="en-CA" altLang="en-US" sz="1400" dirty="0">
              <a:solidFill>
                <a:srgbClr val="99003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74851339"/>
      </p:ext>
    </p:extLst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Introduction to NOSQL Systems (cont’d.)</a:t>
            </a:r>
          </a:p>
        </p:txBody>
      </p:sp>
      <p:sp>
        <p:nvSpPr>
          <p:cNvPr id="16387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dirty="0"/>
              <a:t>Categories of NOSQL systems</a:t>
            </a:r>
          </a:p>
          <a:p>
            <a:pPr lvl="1"/>
            <a:r>
              <a:rPr lang="en-US" altLang="en-US" dirty="0"/>
              <a:t>Document-based NOSQL systems</a:t>
            </a:r>
          </a:p>
          <a:p>
            <a:pPr lvl="1"/>
            <a:r>
              <a:rPr lang="en-US" altLang="en-US" dirty="0"/>
              <a:t>NOSQL key-value stores</a:t>
            </a:r>
          </a:p>
          <a:p>
            <a:pPr lvl="1"/>
            <a:r>
              <a:rPr lang="en-US" altLang="en-US" dirty="0"/>
              <a:t>Column-based or wide column NOSQL systems</a:t>
            </a:r>
          </a:p>
          <a:p>
            <a:pPr lvl="1"/>
            <a:r>
              <a:rPr lang="en-US" altLang="en-US" dirty="0"/>
              <a:t>Graph-based NOSQL systems</a:t>
            </a:r>
          </a:p>
          <a:p>
            <a:pPr lvl="1"/>
            <a:r>
              <a:rPr lang="en-US" altLang="en-US" dirty="0"/>
              <a:t>Hybrid NOSQL systems</a:t>
            </a:r>
          </a:p>
          <a:p>
            <a:pPr lvl="1"/>
            <a:r>
              <a:rPr lang="en-US" altLang="en-US" dirty="0"/>
              <a:t>Object databases</a:t>
            </a:r>
          </a:p>
          <a:p>
            <a:pPr lvl="1"/>
            <a:r>
              <a:rPr lang="en-US" altLang="en-US" dirty="0"/>
              <a:t>XML databases</a:t>
            </a:r>
          </a:p>
          <a:p>
            <a:pPr lvl="1"/>
            <a:endParaRPr lang="en-US" altLang="en-US" dirty="0"/>
          </a:p>
          <a:p>
            <a:pPr lvl="1"/>
            <a:endParaRPr lang="en-US" altLang="en-US" dirty="0"/>
          </a:p>
          <a:p>
            <a:pPr lvl="1"/>
            <a:endParaRPr lang="en-US" altLang="en-US" dirty="0"/>
          </a:p>
        </p:txBody>
      </p:sp>
      <p:sp>
        <p:nvSpPr>
          <p:cNvPr id="16388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990033"/>
              </a:buClr>
              <a:buSzPct val="60000"/>
              <a:buFont typeface="Wingdings" panose="05000000000000000000" pitchFamily="2" charset="2"/>
              <a:buChar char="n"/>
              <a:defRPr sz="28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tx2"/>
              </a:buClr>
              <a:buSzPct val="55000"/>
              <a:buFont typeface="Wingdings" panose="05000000000000000000" pitchFamily="2" charset="2"/>
              <a:buChar char="n"/>
              <a:defRPr sz="2600">
                <a:solidFill>
                  <a:srgbClr val="800000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rgbClr val="800000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400" dirty="0">
                <a:solidFill>
                  <a:srgbClr val="990033"/>
                </a:solidFill>
              </a:rPr>
              <a:t>Slide 24- </a:t>
            </a:r>
            <a:fld id="{0B0EFBA8-7B15-49AB-B8C6-B2D1A2772BF4}" type="slidenum">
              <a:rPr lang="en-US" altLang="en-US" sz="1400" smtClean="0">
                <a:solidFill>
                  <a:srgbClr val="990033"/>
                </a:solidFill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9</a:t>
            </a:fld>
            <a:endParaRPr lang="en-CA" altLang="en-US" sz="1400" dirty="0">
              <a:solidFill>
                <a:srgbClr val="99003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23317376"/>
      </p:ext>
    </p:extLst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24.2 The CAP Theorem</a:t>
            </a:r>
          </a:p>
        </p:txBody>
      </p:sp>
      <p:sp>
        <p:nvSpPr>
          <p:cNvPr id="16387" name="Content Placeholder 2"/>
          <p:cNvSpPr>
            <a:spLocks noGrp="1"/>
          </p:cNvSpPr>
          <p:nvPr>
            <p:ph idx="1"/>
          </p:nvPr>
        </p:nvSpPr>
        <p:spPr>
          <a:xfrm>
            <a:off x="239713" y="1600200"/>
            <a:ext cx="8447087" cy="4572000"/>
          </a:xfrm>
        </p:spPr>
        <p:txBody>
          <a:bodyPr/>
          <a:lstStyle/>
          <a:p>
            <a:pPr marL="0" indent="0" algn="just">
              <a:buNone/>
            </a:pPr>
            <a:r>
              <a:rPr lang="en-US" dirty="0"/>
              <a:t>The CAP theorem states that a distributed data store can simultaneously provide at most two of three guarantees: </a:t>
            </a:r>
          </a:p>
          <a:p>
            <a:pPr marL="0" indent="0" algn="just">
              <a:buNone/>
            </a:pPr>
            <a:endParaRPr lang="en-US" dirty="0"/>
          </a:p>
          <a:p>
            <a:pPr algn="just"/>
            <a:r>
              <a:rPr lang="en-US" b="1" dirty="0"/>
              <a:t>Consistency</a:t>
            </a:r>
            <a:r>
              <a:rPr lang="en-US" dirty="0"/>
              <a:t> (all nodes see the same data),</a:t>
            </a:r>
          </a:p>
          <a:p>
            <a:pPr algn="just"/>
            <a:r>
              <a:rPr lang="en-US" b="1" dirty="0"/>
              <a:t>Availability</a:t>
            </a:r>
            <a:r>
              <a:rPr lang="en-US" dirty="0"/>
              <a:t> (every request receives a response.</a:t>
            </a:r>
          </a:p>
          <a:p>
            <a:pPr algn="just"/>
            <a:r>
              <a:rPr lang="en-US" b="1" dirty="0"/>
              <a:t>Partition Tolerance </a:t>
            </a:r>
            <a:r>
              <a:rPr lang="en-US" dirty="0"/>
              <a:t>(the system continues to operate despite network failures)</a:t>
            </a:r>
            <a:endParaRPr lang="en-US" altLang="en-US" dirty="0"/>
          </a:p>
        </p:txBody>
      </p:sp>
      <p:sp>
        <p:nvSpPr>
          <p:cNvPr id="16388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990033"/>
              </a:buClr>
              <a:buSzPct val="60000"/>
              <a:buFont typeface="Wingdings" panose="05000000000000000000" pitchFamily="2" charset="2"/>
              <a:buChar char="n"/>
              <a:defRPr sz="28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tx2"/>
              </a:buClr>
              <a:buSzPct val="55000"/>
              <a:buFont typeface="Wingdings" panose="05000000000000000000" pitchFamily="2" charset="2"/>
              <a:buChar char="n"/>
              <a:defRPr sz="2600">
                <a:solidFill>
                  <a:srgbClr val="800000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rgbClr val="800000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400" dirty="0">
                <a:solidFill>
                  <a:srgbClr val="990033"/>
                </a:solidFill>
              </a:rPr>
              <a:t>Slide 24- </a:t>
            </a:r>
            <a:fld id="{0B0EFBA8-7B15-49AB-B8C6-B2D1A2772BF4}" type="slidenum">
              <a:rPr lang="en-US" altLang="en-US" sz="1400" smtClean="0">
                <a:solidFill>
                  <a:srgbClr val="990033"/>
                </a:solidFill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10</a:t>
            </a:fld>
            <a:endParaRPr lang="en-CA" altLang="en-US" sz="1400" dirty="0">
              <a:solidFill>
                <a:srgbClr val="99003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19318360"/>
      </p:ext>
    </p:extLst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69C9A-0538-1B77-9FAE-E6568E8529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Title 1">
            <a:extLst>
              <a:ext uri="{FF2B5EF4-FFF2-40B4-BE49-F238E27FC236}">
                <a16:creationId xmlns:a16="http://schemas.microsoft.com/office/drawing/2014/main" id="{2022339B-499F-8884-20FA-E5C0CA0CC7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24.2 The CAP Theorem</a:t>
            </a:r>
          </a:p>
        </p:txBody>
      </p:sp>
      <p:sp>
        <p:nvSpPr>
          <p:cNvPr id="16387" name="Content Placeholder 2">
            <a:extLst>
              <a:ext uri="{FF2B5EF4-FFF2-40B4-BE49-F238E27FC236}">
                <a16:creationId xmlns:a16="http://schemas.microsoft.com/office/drawing/2014/main" id="{12F83F3C-7812-B55F-34EF-90957E0FD4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Various levels of consistency among replicated data items</a:t>
            </a:r>
          </a:p>
          <a:p>
            <a:pPr lvl="1"/>
            <a:r>
              <a:rPr lang="en-US" dirty="0"/>
              <a:t>Enforcing serializabilty the strongest form of consistency</a:t>
            </a:r>
          </a:p>
          <a:p>
            <a:pPr lvl="2"/>
            <a:r>
              <a:rPr lang="en-US" altLang="en-US" dirty="0"/>
              <a:t>High overhead – can reduce read/write operation performance</a:t>
            </a:r>
          </a:p>
          <a:p>
            <a:r>
              <a:rPr lang="en-US" altLang="en-US" dirty="0"/>
              <a:t>CAP theorem</a:t>
            </a:r>
          </a:p>
          <a:p>
            <a:pPr lvl="1"/>
            <a:r>
              <a:rPr lang="en-US" altLang="en-US" dirty="0"/>
              <a:t>Consistency, availability, and partition tolerance</a:t>
            </a:r>
          </a:p>
          <a:p>
            <a:pPr lvl="1"/>
            <a:r>
              <a:rPr lang="en-US" altLang="en-US" dirty="0"/>
              <a:t>Not possible to guarantee all three simultaneously</a:t>
            </a:r>
          </a:p>
          <a:p>
            <a:pPr lvl="2"/>
            <a:r>
              <a:rPr lang="en-US" altLang="en-US" dirty="0"/>
              <a:t>In distributed system with data replication</a:t>
            </a:r>
          </a:p>
        </p:txBody>
      </p:sp>
      <p:sp>
        <p:nvSpPr>
          <p:cNvPr id="16388" name="Slide Number Placeholder 3">
            <a:extLst>
              <a:ext uri="{FF2B5EF4-FFF2-40B4-BE49-F238E27FC236}">
                <a16:creationId xmlns:a16="http://schemas.microsoft.com/office/drawing/2014/main" id="{D71B39E2-3F83-15AA-49B9-FC5534324C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990033"/>
              </a:buClr>
              <a:buSzPct val="60000"/>
              <a:buFont typeface="Wingdings" panose="05000000000000000000" pitchFamily="2" charset="2"/>
              <a:buChar char="n"/>
              <a:defRPr sz="28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tx2"/>
              </a:buClr>
              <a:buSzPct val="55000"/>
              <a:buFont typeface="Wingdings" panose="05000000000000000000" pitchFamily="2" charset="2"/>
              <a:buChar char="n"/>
              <a:defRPr sz="2600">
                <a:solidFill>
                  <a:srgbClr val="800000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rgbClr val="800000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400" dirty="0">
                <a:solidFill>
                  <a:srgbClr val="990033"/>
                </a:solidFill>
              </a:rPr>
              <a:t>Slide 24- </a:t>
            </a:r>
            <a:fld id="{0B0EFBA8-7B15-49AB-B8C6-B2D1A2772BF4}" type="slidenum">
              <a:rPr lang="en-US" altLang="en-US" sz="1400" smtClean="0">
                <a:solidFill>
                  <a:srgbClr val="990033"/>
                </a:solidFill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11</a:t>
            </a:fld>
            <a:endParaRPr lang="en-CA" altLang="en-US" sz="1400" dirty="0">
              <a:solidFill>
                <a:srgbClr val="99003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31292030"/>
      </p:ext>
    </p:extLst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96F8C-C4F0-484E-CF95-F0DCB39A6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Title 1">
            <a:extLst>
              <a:ext uri="{FF2B5EF4-FFF2-40B4-BE49-F238E27FC236}">
                <a16:creationId xmlns:a16="http://schemas.microsoft.com/office/drawing/2014/main" id="{91F20932-820B-CA6B-AC7F-DBAE875257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24.2 The CAP Theorem</a:t>
            </a:r>
          </a:p>
        </p:txBody>
      </p:sp>
      <p:sp>
        <p:nvSpPr>
          <p:cNvPr id="16388" name="Slide Number Placeholder 3">
            <a:extLst>
              <a:ext uri="{FF2B5EF4-FFF2-40B4-BE49-F238E27FC236}">
                <a16:creationId xmlns:a16="http://schemas.microsoft.com/office/drawing/2014/main" id="{6AAEA816-573E-A2D1-CE13-B2F8B31C01B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990033"/>
              </a:buClr>
              <a:buSzPct val="60000"/>
              <a:buFont typeface="Wingdings" panose="05000000000000000000" pitchFamily="2" charset="2"/>
              <a:buChar char="n"/>
              <a:defRPr sz="28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tx2"/>
              </a:buClr>
              <a:buSzPct val="55000"/>
              <a:buFont typeface="Wingdings" panose="05000000000000000000" pitchFamily="2" charset="2"/>
              <a:buChar char="n"/>
              <a:defRPr sz="2600">
                <a:solidFill>
                  <a:srgbClr val="800000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rgbClr val="800000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400" dirty="0">
                <a:solidFill>
                  <a:srgbClr val="990033"/>
                </a:solidFill>
              </a:rPr>
              <a:t>Slide 24- </a:t>
            </a:r>
            <a:fld id="{0B0EFBA8-7B15-49AB-B8C6-B2D1A2772BF4}" type="slidenum">
              <a:rPr lang="en-US" altLang="en-US" sz="1400" smtClean="0">
                <a:solidFill>
                  <a:srgbClr val="990033"/>
                </a:solidFill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12</a:t>
            </a:fld>
            <a:endParaRPr lang="en-CA" altLang="en-US" sz="1400" dirty="0">
              <a:solidFill>
                <a:srgbClr val="990033"/>
              </a:solidFill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58207D03-CAB4-4A07-A0B3-EE19785193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" y="1541746"/>
            <a:ext cx="8229600" cy="50130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00748947"/>
      </p:ext>
    </p:extLst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The CAP Theorem (cont’d.)</a:t>
            </a:r>
          </a:p>
        </p:txBody>
      </p:sp>
      <p:sp>
        <p:nvSpPr>
          <p:cNvPr id="16387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Designer can choose two of three to guarantee</a:t>
            </a:r>
          </a:p>
          <a:p>
            <a:pPr lvl="1"/>
            <a:r>
              <a:rPr lang="en-US" altLang="en-US" dirty="0"/>
              <a:t>Weaker consistency level is often acceptable in NOSQL distributed data store</a:t>
            </a:r>
          </a:p>
          <a:p>
            <a:pPr lvl="1"/>
            <a:r>
              <a:rPr lang="en-US" altLang="en-US" dirty="0"/>
              <a:t>Guaranteeing availability and partition tolerance more important</a:t>
            </a:r>
          </a:p>
          <a:p>
            <a:pPr lvl="1"/>
            <a:r>
              <a:rPr lang="en-US" altLang="en-US" dirty="0"/>
              <a:t>Eventual consistency often adopted</a:t>
            </a:r>
          </a:p>
        </p:txBody>
      </p:sp>
      <p:sp>
        <p:nvSpPr>
          <p:cNvPr id="16388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990033"/>
              </a:buClr>
              <a:buSzPct val="60000"/>
              <a:buFont typeface="Wingdings" panose="05000000000000000000" pitchFamily="2" charset="2"/>
              <a:buChar char="n"/>
              <a:defRPr sz="28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tx2"/>
              </a:buClr>
              <a:buSzPct val="55000"/>
              <a:buFont typeface="Wingdings" panose="05000000000000000000" pitchFamily="2" charset="2"/>
              <a:buChar char="n"/>
              <a:defRPr sz="2600">
                <a:solidFill>
                  <a:srgbClr val="800000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rgbClr val="800000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400" dirty="0">
                <a:solidFill>
                  <a:srgbClr val="990033"/>
                </a:solidFill>
              </a:rPr>
              <a:t>Slide 24- </a:t>
            </a:r>
            <a:fld id="{0B0EFBA8-7B15-49AB-B8C6-B2D1A2772BF4}" type="slidenum">
              <a:rPr lang="en-US" altLang="en-US" sz="1400" smtClean="0">
                <a:solidFill>
                  <a:srgbClr val="990033"/>
                </a:solidFill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13</a:t>
            </a:fld>
            <a:endParaRPr lang="en-CA" altLang="en-US" sz="1400" dirty="0">
              <a:solidFill>
                <a:srgbClr val="99003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12565875"/>
      </p:ext>
    </p:extLst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D5422-93E3-B840-078F-329EDCEA69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Title 1">
            <a:extLst>
              <a:ext uri="{FF2B5EF4-FFF2-40B4-BE49-F238E27FC236}">
                <a16:creationId xmlns:a16="http://schemas.microsoft.com/office/drawing/2014/main" id="{3D5455B6-D6D4-69DA-D930-343679D168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The CAP Theorem (cont’d.)</a:t>
            </a:r>
          </a:p>
        </p:txBody>
      </p:sp>
      <p:sp>
        <p:nvSpPr>
          <p:cNvPr id="16388" name="Slide Number Placeholder 3">
            <a:extLst>
              <a:ext uri="{FF2B5EF4-FFF2-40B4-BE49-F238E27FC236}">
                <a16:creationId xmlns:a16="http://schemas.microsoft.com/office/drawing/2014/main" id="{FA4A524E-3DAC-AC28-D1A4-26C6A1B661B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990033"/>
              </a:buClr>
              <a:buSzPct val="60000"/>
              <a:buFont typeface="Wingdings" panose="05000000000000000000" pitchFamily="2" charset="2"/>
              <a:buChar char="n"/>
              <a:defRPr sz="28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tx2"/>
              </a:buClr>
              <a:buSzPct val="55000"/>
              <a:buFont typeface="Wingdings" panose="05000000000000000000" pitchFamily="2" charset="2"/>
              <a:buChar char="n"/>
              <a:defRPr sz="2600">
                <a:solidFill>
                  <a:srgbClr val="800000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rgbClr val="800000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400" dirty="0">
                <a:solidFill>
                  <a:srgbClr val="990033"/>
                </a:solidFill>
              </a:rPr>
              <a:t>Slide 24- </a:t>
            </a:r>
            <a:fld id="{0B0EFBA8-7B15-49AB-B8C6-B2D1A2772BF4}" type="slidenum">
              <a:rPr lang="en-US" altLang="en-US" sz="1400" smtClean="0">
                <a:solidFill>
                  <a:srgbClr val="990033"/>
                </a:solidFill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14</a:t>
            </a:fld>
            <a:endParaRPr lang="en-CA" altLang="en-US" sz="1400" dirty="0">
              <a:solidFill>
                <a:srgbClr val="990033"/>
              </a:solidFill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11C79594-6844-AD47-3DAF-DADFF810F0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83" y="1455737"/>
            <a:ext cx="8831317" cy="49967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72124002"/>
      </p:ext>
    </p:extLst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24.3 Document-Based NOSQL Systems and MongoDB</a:t>
            </a:r>
          </a:p>
        </p:txBody>
      </p:sp>
      <p:sp>
        <p:nvSpPr>
          <p:cNvPr id="28675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dirty="0"/>
              <a:t>Document stores</a:t>
            </a:r>
          </a:p>
          <a:p>
            <a:pPr lvl="1"/>
            <a:r>
              <a:rPr lang="en-US" altLang="en-US" dirty="0"/>
              <a:t>Collections of similar documents</a:t>
            </a:r>
          </a:p>
          <a:p>
            <a:r>
              <a:rPr lang="en-US" altLang="en-US" dirty="0"/>
              <a:t>Individual documents resemble complex objects or XML documents</a:t>
            </a:r>
          </a:p>
          <a:p>
            <a:pPr lvl="1"/>
            <a:r>
              <a:rPr lang="en-US" altLang="en-US" dirty="0"/>
              <a:t>Documents are self-describing</a:t>
            </a:r>
          </a:p>
          <a:p>
            <a:pPr lvl="1"/>
            <a:r>
              <a:rPr lang="en-US" altLang="en-US" dirty="0"/>
              <a:t>Can have different data elements</a:t>
            </a:r>
          </a:p>
          <a:p>
            <a:r>
              <a:rPr lang="en-US" altLang="en-US" dirty="0"/>
              <a:t>Documents can be specified in various formats</a:t>
            </a:r>
          </a:p>
          <a:p>
            <a:pPr lvl="1"/>
            <a:r>
              <a:rPr lang="en-US" altLang="en-US" dirty="0"/>
              <a:t>XML</a:t>
            </a:r>
          </a:p>
          <a:p>
            <a:pPr lvl="1"/>
            <a:r>
              <a:rPr lang="en-US" altLang="en-US" dirty="0"/>
              <a:t>JSON</a:t>
            </a:r>
          </a:p>
          <a:p>
            <a:pPr lvl="1"/>
            <a:endParaRPr lang="en-US" altLang="en-US" dirty="0"/>
          </a:p>
        </p:txBody>
      </p:sp>
      <p:sp>
        <p:nvSpPr>
          <p:cNvPr id="28676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990033"/>
              </a:buClr>
              <a:buSzPct val="60000"/>
              <a:buFont typeface="Wingdings" panose="05000000000000000000" pitchFamily="2" charset="2"/>
              <a:buChar char="n"/>
              <a:defRPr sz="28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tx2"/>
              </a:buClr>
              <a:buSzPct val="55000"/>
              <a:buFont typeface="Wingdings" panose="05000000000000000000" pitchFamily="2" charset="2"/>
              <a:buChar char="n"/>
              <a:defRPr sz="2600">
                <a:solidFill>
                  <a:srgbClr val="800000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rgbClr val="800000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400" dirty="0">
                <a:solidFill>
                  <a:srgbClr val="990033"/>
                </a:solidFill>
              </a:rPr>
              <a:t>Slide 24- </a:t>
            </a:r>
            <a:fld id="{9044A6E0-C3C0-4F53-921F-927A83F0E4B6}" type="slidenum">
              <a:rPr lang="en-US" altLang="en-US" sz="1400" smtClean="0">
                <a:solidFill>
                  <a:srgbClr val="990033"/>
                </a:solidFill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15</a:t>
            </a:fld>
            <a:endParaRPr lang="en-CA" altLang="en-US" sz="1400" dirty="0">
              <a:solidFill>
                <a:srgbClr val="990033"/>
              </a:solidFill>
            </a:endParaRPr>
          </a:p>
        </p:txBody>
      </p:sp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MongoDB Data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Documents stored in binary JSON (BSON) format</a:t>
            </a:r>
          </a:p>
          <a:p>
            <a:r>
              <a:rPr lang="en-US" dirty="0"/>
              <a:t>Individual documents stored in a collection</a:t>
            </a:r>
          </a:p>
          <a:p>
            <a:r>
              <a:rPr lang="en-US" dirty="0"/>
              <a:t>Example command</a:t>
            </a:r>
          </a:p>
          <a:p>
            <a:pPr lvl="1"/>
            <a:r>
              <a:rPr lang="en-US" dirty="0"/>
              <a:t>First parameter specifies name of the collection</a:t>
            </a:r>
          </a:p>
          <a:p>
            <a:pPr lvl="1"/>
            <a:r>
              <a:rPr lang="en-US" dirty="0"/>
              <a:t>Collection options include limits on size and number of documents</a:t>
            </a:r>
          </a:p>
          <a:p>
            <a:pPr lvl="1"/>
            <a:endParaRPr lang="en-US" dirty="0"/>
          </a:p>
          <a:p>
            <a:r>
              <a:rPr lang="en-US" dirty="0"/>
              <a:t>Each document in collection has unique ObjectID field called _id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en-US" dirty="0"/>
              <a:t>Slide 24- </a:t>
            </a:r>
            <a:fld id="{2D4306B9-CFD7-4637-81D1-AA1B82412423}" type="slidenum">
              <a:rPr lang="en-US" altLang="en-US" smtClean="0"/>
              <a:pPr>
                <a:defRPr/>
              </a:pPr>
              <a:t>16</a:t>
            </a:fld>
            <a:endParaRPr lang="en-CA" alt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28029"/>
            <a:ext cx="7885176" cy="4981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8304560"/>
      </p:ext>
    </p:extLst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MongoDB Data Model (cont’d.)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collection does not have a schema</a:t>
            </a:r>
          </a:p>
          <a:p>
            <a:pPr lvl="1"/>
            <a:r>
              <a:rPr lang="en-US" dirty="0"/>
              <a:t>Structure of the data fields in documents chosen based on how documents will be accessed</a:t>
            </a:r>
          </a:p>
          <a:p>
            <a:pPr lvl="1"/>
            <a:r>
              <a:rPr lang="en-US" dirty="0"/>
              <a:t>User can choose normalized or denormalized design</a:t>
            </a:r>
          </a:p>
          <a:p>
            <a:r>
              <a:rPr lang="en-US" dirty="0"/>
              <a:t>Document creation using insert operation</a:t>
            </a:r>
          </a:p>
          <a:p>
            <a:endParaRPr lang="en-US" dirty="0"/>
          </a:p>
          <a:p>
            <a:r>
              <a:rPr lang="en-US" dirty="0"/>
              <a:t>Document deletion using remove operation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en-US" dirty="0"/>
              <a:t>Slide 24- </a:t>
            </a:r>
            <a:fld id="{2D4306B9-CFD7-4637-81D1-AA1B82412423}" type="slidenum">
              <a:rPr lang="en-US" altLang="en-US" smtClean="0"/>
              <a:pPr>
                <a:defRPr/>
              </a:pPr>
              <a:t>17</a:t>
            </a:fld>
            <a:endParaRPr lang="en-CA" alt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0" y="4495800"/>
            <a:ext cx="4705350" cy="40005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1576" y="5476875"/>
            <a:ext cx="4419600" cy="323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1702445"/>
      </p:ext>
    </p:extLst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en-US" dirty="0"/>
              <a:t>Slide 24- </a:t>
            </a:r>
            <a:fld id="{CBCCE3FE-FCB0-427A-BC32-764E10629896}" type="slidenum">
              <a:rPr lang="en-US" altLang="en-US" smtClean="0"/>
              <a:pPr>
                <a:defRPr/>
              </a:pPr>
              <a:t>18</a:t>
            </a:fld>
            <a:endParaRPr lang="en-CA" altLang="en-US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3038" y="5255"/>
            <a:ext cx="4350962" cy="60635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2400" y="2796570"/>
            <a:ext cx="32004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Figure 24.1 (continues)</a:t>
            </a:r>
          </a:p>
          <a:p>
            <a:r>
              <a:rPr lang="en-US" sz="1600" dirty="0"/>
              <a:t>Example of simple documents in MongoDB (a) Denormalized document design with embedded subdocuments (b) Embedded array of document references</a:t>
            </a:r>
          </a:p>
        </p:txBody>
      </p:sp>
    </p:spTree>
    <p:extLst>
      <p:ext uri="{BB962C8B-B14F-4D97-AF65-F5344CB8AC3E}">
        <p14:creationId xmlns:p14="http://schemas.microsoft.com/office/powerpoint/2010/main" val="402851876"/>
      </p:ext>
    </p:extLst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en-US" dirty="0"/>
              <a:t>Slide 24- </a:t>
            </a:r>
            <a:fld id="{CBCCE3FE-FCB0-427A-BC32-764E10629896}" type="slidenum">
              <a:rPr lang="en-US" altLang="en-US" smtClean="0"/>
              <a:pPr>
                <a:defRPr/>
              </a:pPr>
              <a:t>19</a:t>
            </a:fld>
            <a:endParaRPr lang="en-CA" alt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152400" y="2667000"/>
            <a:ext cx="2590800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Figure 24.1 (cont’d.) Example of simple documents in MongoDB (c) Normalized documents (d) Inserting the documents in Figure 24.1(c) into their collections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1338" y="1478280"/>
            <a:ext cx="5254724" cy="251460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0810" y="4002024"/>
            <a:ext cx="5558390" cy="2057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0629956"/>
      </p:ext>
    </p:extLst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MongoDB Distributed Systems Characteristics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Two-phase commit method</a:t>
            </a:r>
          </a:p>
          <a:p>
            <a:pPr lvl="1"/>
            <a:r>
              <a:rPr lang="en-US" dirty="0"/>
              <a:t>Used to ensure atomicity and consistency of multidocument transactions</a:t>
            </a:r>
          </a:p>
          <a:p>
            <a:r>
              <a:rPr lang="en-US" dirty="0"/>
              <a:t>Replication in MongoDB</a:t>
            </a:r>
          </a:p>
          <a:p>
            <a:pPr lvl="1"/>
            <a:r>
              <a:rPr lang="en-US" dirty="0"/>
              <a:t>Concept of replica set to create multiple copies on different nodes</a:t>
            </a:r>
          </a:p>
          <a:p>
            <a:pPr lvl="1"/>
            <a:r>
              <a:rPr lang="en-US" dirty="0"/>
              <a:t>Variation of master-slave approach</a:t>
            </a:r>
          </a:p>
          <a:p>
            <a:pPr lvl="1"/>
            <a:r>
              <a:rPr lang="en-US" dirty="0"/>
              <a:t>Primary copy, secondary copy, and arbiter</a:t>
            </a:r>
          </a:p>
          <a:p>
            <a:pPr lvl="2"/>
            <a:r>
              <a:rPr lang="en-US" dirty="0"/>
              <a:t>Arbiter participates in elections to select new primary if needed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en-US" dirty="0"/>
              <a:t>Slide 24- </a:t>
            </a:r>
            <a:fld id="{2D4306B9-CFD7-4637-81D1-AA1B82412423}" type="slidenum">
              <a:rPr lang="en-US" altLang="en-US" smtClean="0"/>
              <a:pPr>
                <a:defRPr/>
              </a:pPr>
              <a:t>20</a:t>
            </a:fld>
            <a:endParaRPr lang="en-CA" altLang="en-US" dirty="0"/>
          </a:p>
        </p:txBody>
      </p:sp>
    </p:spTree>
    <p:extLst>
      <p:ext uri="{BB962C8B-B14F-4D97-AF65-F5344CB8AC3E}">
        <p14:creationId xmlns:p14="http://schemas.microsoft.com/office/powerpoint/2010/main" val="3812342468"/>
      </p:ext>
    </p:extLst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MongoDB Distributed Systems Characteristics (cont’d.)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Replication in MongoDB (cont’d.)</a:t>
            </a:r>
          </a:p>
          <a:p>
            <a:pPr lvl="1"/>
            <a:r>
              <a:rPr lang="en-US" dirty="0"/>
              <a:t>All write operations applied to the primary copy and propagated to the secondaries</a:t>
            </a:r>
          </a:p>
          <a:p>
            <a:pPr lvl="1"/>
            <a:r>
              <a:rPr lang="en-US" dirty="0"/>
              <a:t>User can choose read preference</a:t>
            </a:r>
          </a:p>
          <a:p>
            <a:pPr lvl="2"/>
            <a:r>
              <a:rPr lang="en-US" dirty="0"/>
              <a:t>Read requests can be processed at any replica</a:t>
            </a:r>
          </a:p>
          <a:p>
            <a:r>
              <a:rPr lang="en-US" dirty="0"/>
              <a:t>Sharding in MongoDB</a:t>
            </a:r>
          </a:p>
          <a:p>
            <a:pPr lvl="1"/>
            <a:r>
              <a:rPr lang="en-US" dirty="0"/>
              <a:t>Horizontal partitioning divides the documents into disjoint partitions (shards)</a:t>
            </a:r>
          </a:p>
          <a:p>
            <a:pPr lvl="1"/>
            <a:r>
              <a:rPr lang="en-US" dirty="0"/>
              <a:t>Allows adding more nodes as needed </a:t>
            </a:r>
          </a:p>
          <a:p>
            <a:pPr lvl="1"/>
            <a:r>
              <a:rPr lang="en-US" dirty="0"/>
              <a:t>Shards stored on different nodes to achieve load balancing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en-US" dirty="0"/>
              <a:t>Slide 24- </a:t>
            </a:r>
            <a:fld id="{2D4306B9-CFD7-4637-81D1-AA1B82412423}" type="slidenum">
              <a:rPr lang="en-US" altLang="en-US" smtClean="0"/>
              <a:pPr>
                <a:defRPr/>
              </a:pPr>
              <a:t>21</a:t>
            </a:fld>
            <a:endParaRPr lang="en-CA" altLang="en-US" dirty="0"/>
          </a:p>
        </p:txBody>
      </p:sp>
    </p:spTree>
    <p:extLst>
      <p:ext uri="{BB962C8B-B14F-4D97-AF65-F5344CB8AC3E}">
        <p14:creationId xmlns:p14="http://schemas.microsoft.com/office/powerpoint/2010/main" val="4114179441"/>
      </p:ext>
    </p:extLst>
  </p:cSld>
  <p:clrMapOvr>
    <a:masterClrMapping/>
  </p:clrMapOvr>
  <p:transition spd="med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MongoDB Distributed Systems Characteristics (cont’d.)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Sharding in MongoDB (cont’d.)</a:t>
            </a:r>
          </a:p>
          <a:p>
            <a:pPr lvl="1"/>
            <a:r>
              <a:rPr lang="en-US" dirty="0"/>
              <a:t>Partitioning field (shard key) must exist in every document in the collection</a:t>
            </a:r>
          </a:p>
          <a:p>
            <a:pPr lvl="2"/>
            <a:r>
              <a:rPr lang="en-US" dirty="0"/>
              <a:t>Must have an index</a:t>
            </a:r>
          </a:p>
          <a:p>
            <a:pPr lvl="1"/>
            <a:r>
              <a:rPr lang="en-US" dirty="0"/>
              <a:t>Range partitioning</a:t>
            </a:r>
          </a:p>
          <a:p>
            <a:pPr lvl="2"/>
            <a:r>
              <a:rPr lang="en-US" dirty="0"/>
              <a:t>Creates chunks by specifying a range of key values</a:t>
            </a:r>
          </a:p>
          <a:p>
            <a:pPr lvl="2"/>
            <a:r>
              <a:rPr lang="en-US" dirty="0"/>
              <a:t>Works best with range queries</a:t>
            </a:r>
          </a:p>
          <a:p>
            <a:pPr lvl="1"/>
            <a:r>
              <a:rPr lang="en-US" dirty="0"/>
              <a:t>Hash partitioning</a:t>
            </a:r>
          </a:p>
          <a:p>
            <a:pPr lvl="2"/>
            <a:r>
              <a:rPr lang="en-US" dirty="0"/>
              <a:t>Partitioning based on the hash values of each shard key</a:t>
            </a:r>
          </a:p>
          <a:p>
            <a:pPr lvl="2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en-US" dirty="0"/>
              <a:t>Slide 24- </a:t>
            </a:r>
            <a:fld id="{2D4306B9-CFD7-4637-81D1-AA1B82412423}" type="slidenum">
              <a:rPr lang="en-US" altLang="en-US" smtClean="0"/>
              <a:pPr>
                <a:defRPr/>
              </a:pPr>
              <a:t>22</a:t>
            </a:fld>
            <a:endParaRPr lang="en-CA" altLang="en-US" dirty="0"/>
          </a:p>
        </p:txBody>
      </p:sp>
    </p:spTree>
    <p:extLst>
      <p:ext uri="{BB962C8B-B14F-4D97-AF65-F5344CB8AC3E}">
        <p14:creationId xmlns:p14="http://schemas.microsoft.com/office/powerpoint/2010/main" val="2998459857"/>
      </p:ext>
    </p:extLst>
  </p:cSld>
  <p:clrMapOvr>
    <a:masterClrMapping/>
  </p:clrMapOvr>
  <p:transition spd="med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24.4 NOSQL Key-Value Stores</a:t>
            </a:r>
          </a:p>
        </p:txBody>
      </p:sp>
      <p:sp>
        <p:nvSpPr>
          <p:cNvPr id="28675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Key-value stores focus on high performance, availability, and scalability</a:t>
            </a:r>
          </a:p>
          <a:p>
            <a:pPr lvl="1"/>
            <a:r>
              <a:rPr lang="en-US" dirty="0"/>
              <a:t>Can store structured, unstructured, or semi-structured data</a:t>
            </a:r>
          </a:p>
          <a:p>
            <a:r>
              <a:rPr lang="en-US" altLang="en-US" dirty="0"/>
              <a:t>Key: unique identifier associated with a data item</a:t>
            </a:r>
          </a:p>
          <a:p>
            <a:pPr lvl="1"/>
            <a:r>
              <a:rPr lang="en-US" altLang="en-US" dirty="0"/>
              <a:t>Used for fast retrieval</a:t>
            </a:r>
          </a:p>
          <a:p>
            <a:r>
              <a:rPr lang="en-US" altLang="en-US" dirty="0"/>
              <a:t>Value: the data item itself</a:t>
            </a:r>
          </a:p>
          <a:p>
            <a:pPr lvl="1"/>
            <a:r>
              <a:rPr lang="en-US" altLang="en-US" dirty="0"/>
              <a:t>Can be string or array of bytes</a:t>
            </a:r>
          </a:p>
          <a:p>
            <a:pPr lvl="1"/>
            <a:r>
              <a:rPr lang="en-US" altLang="en-US" dirty="0"/>
              <a:t>Application interprets the structure</a:t>
            </a:r>
          </a:p>
          <a:p>
            <a:r>
              <a:rPr lang="en-US" dirty="0"/>
              <a:t>No query language</a:t>
            </a:r>
          </a:p>
        </p:txBody>
      </p:sp>
      <p:sp>
        <p:nvSpPr>
          <p:cNvPr id="28676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990033"/>
              </a:buClr>
              <a:buSzPct val="60000"/>
              <a:buFont typeface="Wingdings" panose="05000000000000000000" pitchFamily="2" charset="2"/>
              <a:buChar char="n"/>
              <a:defRPr sz="28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tx2"/>
              </a:buClr>
              <a:buSzPct val="55000"/>
              <a:buFont typeface="Wingdings" panose="05000000000000000000" pitchFamily="2" charset="2"/>
              <a:buChar char="n"/>
              <a:defRPr sz="2600">
                <a:solidFill>
                  <a:srgbClr val="800000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rgbClr val="800000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400" dirty="0">
                <a:solidFill>
                  <a:srgbClr val="990033"/>
                </a:solidFill>
              </a:rPr>
              <a:t>Slide 24- </a:t>
            </a:r>
            <a:fld id="{9044A6E0-C3C0-4F53-921F-927A83F0E4B6}" type="slidenum">
              <a:rPr lang="en-US" altLang="en-US" sz="1400" smtClean="0">
                <a:solidFill>
                  <a:srgbClr val="990033"/>
                </a:solidFill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23</a:t>
            </a:fld>
            <a:endParaRPr lang="en-CA" altLang="en-US" sz="1400" dirty="0">
              <a:solidFill>
                <a:srgbClr val="99003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4027884"/>
      </p:ext>
    </p:extLst>
  </p:cSld>
  <p:clrMapOvr>
    <a:masterClrMapping/>
  </p:clrMapOvr>
  <p:transition spd="med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DynamoDB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DynamoDB part of Amazon’s Web Services/SDK platforms</a:t>
            </a:r>
          </a:p>
          <a:p>
            <a:pPr lvl="1"/>
            <a:r>
              <a:rPr lang="en-US" dirty="0"/>
              <a:t>Proprietary</a:t>
            </a:r>
          </a:p>
          <a:p>
            <a:r>
              <a:rPr lang="en-US" dirty="0"/>
              <a:t>Table holds a collection of self-describing items</a:t>
            </a:r>
          </a:p>
          <a:p>
            <a:r>
              <a:rPr lang="en-US" dirty="0"/>
              <a:t>Item consists of attribute-value pairs</a:t>
            </a:r>
          </a:p>
          <a:p>
            <a:pPr lvl="1"/>
            <a:r>
              <a:rPr lang="en-US" dirty="0"/>
              <a:t>Attribute values can be single or multi-valued</a:t>
            </a:r>
          </a:p>
          <a:p>
            <a:r>
              <a:rPr lang="en-US" dirty="0"/>
              <a:t>Primary key used to locate items within a table</a:t>
            </a:r>
          </a:p>
          <a:p>
            <a:pPr lvl="1"/>
            <a:r>
              <a:rPr lang="en-US" dirty="0"/>
              <a:t>Can be single attribute or pair of attributes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en-US" dirty="0"/>
              <a:t>Slide 24- </a:t>
            </a:r>
            <a:fld id="{2D4306B9-CFD7-4637-81D1-AA1B82412423}" type="slidenum">
              <a:rPr lang="en-US" altLang="en-US" smtClean="0"/>
              <a:pPr>
                <a:defRPr/>
              </a:pPr>
              <a:t>24</a:t>
            </a:fld>
            <a:endParaRPr lang="en-CA" altLang="en-US" dirty="0"/>
          </a:p>
        </p:txBody>
      </p:sp>
    </p:spTree>
    <p:extLst>
      <p:ext uri="{BB962C8B-B14F-4D97-AF65-F5344CB8AC3E}">
        <p14:creationId xmlns:p14="http://schemas.microsoft.com/office/powerpoint/2010/main" val="681163301"/>
      </p:ext>
    </p:extLst>
  </p:cSld>
  <p:clrMapOvr>
    <a:masterClrMapping/>
  </p:clrMapOvr>
  <p:transition spd="med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Voldemort Key-Value Distributed Data Store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Voldemort: open source key-value system similar to DynamoDB</a:t>
            </a:r>
          </a:p>
          <a:p>
            <a:r>
              <a:rPr lang="en-US" dirty="0"/>
              <a:t>Voldemort features</a:t>
            </a:r>
          </a:p>
          <a:p>
            <a:pPr lvl="1"/>
            <a:r>
              <a:rPr lang="en-US" dirty="0"/>
              <a:t>Simple basic operations (get, put, and delete)</a:t>
            </a:r>
          </a:p>
          <a:p>
            <a:pPr lvl="1"/>
            <a:r>
              <a:rPr lang="en-US" dirty="0"/>
              <a:t>High-level formatted data values</a:t>
            </a:r>
          </a:p>
          <a:p>
            <a:pPr lvl="1"/>
            <a:r>
              <a:rPr lang="en-US" dirty="0"/>
              <a:t>Consistent hashing for distributing (key, value) pairs</a:t>
            </a:r>
          </a:p>
          <a:p>
            <a:pPr lvl="1"/>
            <a:r>
              <a:rPr lang="en-US" dirty="0"/>
              <a:t>Consistency and versioning</a:t>
            </a:r>
          </a:p>
          <a:p>
            <a:pPr lvl="2"/>
            <a:r>
              <a:rPr lang="en-US" dirty="0"/>
              <a:t>Concurrent writes allowed</a:t>
            </a:r>
          </a:p>
          <a:p>
            <a:pPr lvl="2"/>
            <a:r>
              <a:rPr lang="en-US" dirty="0"/>
              <a:t>Each write associated with a vector clock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en-US" dirty="0"/>
              <a:t>Slide 24- </a:t>
            </a:r>
            <a:fld id="{2D4306B9-CFD7-4637-81D1-AA1B82412423}" type="slidenum">
              <a:rPr lang="en-US" altLang="en-US" smtClean="0"/>
              <a:pPr>
                <a:defRPr/>
              </a:pPr>
              <a:t>25</a:t>
            </a:fld>
            <a:endParaRPr lang="en-CA" altLang="en-US" dirty="0"/>
          </a:p>
        </p:txBody>
      </p:sp>
    </p:spTree>
    <p:extLst>
      <p:ext uri="{BB962C8B-B14F-4D97-AF65-F5344CB8AC3E}">
        <p14:creationId xmlns:p14="http://schemas.microsoft.com/office/powerpoint/2010/main" val="2961664537"/>
      </p:ext>
    </p:extLst>
  </p:cSld>
  <p:clrMapOvr>
    <a:masterClrMapping/>
  </p:clrMapOvr>
  <p:transition spd="med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en-US" dirty="0"/>
              <a:t>Slide 24- </a:t>
            </a:r>
            <a:fld id="{CBCCE3FE-FCB0-427A-BC32-764E10629896}" type="slidenum">
              <a:rPr lang="en-US" altLang="en-US" smtClean="0"/>
              <a:pPr>
                <a:defRPr/>
              </a:pPr>
              <a:t>26</a:t>
            </a:fld>
            <a:endParaRPr lang="en-CA" altLang="en-US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9547" y="1475175"/>
            <a:ext cx="3249653" cy="492562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2400" y="2286000"/>
            <a:ext cx="3578352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Figure 24.2 Example of consistent hashing (a) Ring having three nodes A, B, and C, with C having greater capacity. The </a:t>
            </a:r>
            <a:r>
              <a:rPr lang="en-US" sz="1600" i="1" dirty="0"/>
              <a:t>h</a:t>
            </a:r>
            <a:r>
              <a:rPr lang="en-US" sz="1600" dirty="0"/>
              <a:t>(</a:t>
            </a:r>
            <a:r>
              <a:rPr lang="en-US" sz="1600" i="1" dirty="0"/>
              <a:t>K</a:t>
            </a:r>
            <a:r>
              <a:rPr lang="en-US" sz="1600" dirty="0"/>
              <a:t>) values that map to the circle points in </a:t>
            </a:r>
            <a:r>
              <a:rPr lang="en-US" sz="1600" i="1" dirty="0"/>
              <a:t>range 1 </a:t>
            </a:r>
            <a:r>
              <a:rPr lang="en-US" sz="1600" dirty="0"/>
              <a:t>have their (k, v) items stored in node A, </a:t>
            </a:r>
            <a:r>
              <a:rPr lang="en-US" sz="1600" i="1" dirty="0"/>
              <a:t>range 2 </a:t>
            </a:r>
            <a:r>
              <a:rPr lang="en-US" sz="1600" dirty="0"/>
              <a:t>in node B, </a:t>
            </a:r>
            <a:r>
              <a:rPr lang="en-US" sz="1600" i="1" dirty="0"/>
              <a:t>range 3 </a:t>
            </a:r>
            <a:r>
              <a:rPr lang="en-US" sz="1600" dirty="0"/>
              <a:t>in node C (b) Adding a node D to the ring. Items in </a:t>
            </a:r>
            <a:r>
              <a:rPr lang="en-US" sz="1600" i="1" dirty="0"/>
              <a:t>range 4 </a:t>
            </a:r>
            <a:r>
              <a:rPr lang="en-US" sz="1600" dirty="0"/>
              <a:t>are moved to the node D from node B (</a:t>
            </a:r>
            <a:r>
              <a:rPr lang="en-US" sz="1600" i="1" dirty="0"/>
              <a:t>range 2 </a:t>
            </a:r>
            <a:r>
              <a:rPr lang="en-US" sz="1600" dirty="0"/>
              <a:t>is reduced) and node C (</a:t>
            </a:r>
            <a:r>
              <a:rPr lang="en-US" sz="1600" i="1" dirty="0"/>
              <a:t>range 3 </a:t>
            </a:r>
            <a:r>
              <a:rPr lang="en-US" sz="1600" dirty="0"/>
              <a:t>is reduced)</a:t>
            </a:r>
          </a:p>
        </p:txBody>
      </p:sp>
    </p:spTree>
    <p:extLst>
      <p:ext uri="{BB962C8B-B14F-4D97-AF65-F5344CB8AC3E}">
        <p14:creationId xmlns:p14="http://schemas.microsoft.com/office/powerpoint/2010/main" val="3608287147"/>
      </p:ext>
    </p:extLst>
  </p:cSld>
  <p:clrMapOvr>
    <a:masterClrMapping/>
  </p:clrMapOvr>
  <p:transition spd="med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 of Other Key-Value Stores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Oracle key-value store</a:t>
            </a:r>
          </a:p>
          <a:p>
            <a:pPr lvl="1"/>
            <a:r>
              <a:rPr lang="en-US" dirty="0"/>
              <a:t>Oracle NOSQL Database</a:t>
            </a:r>
          </a:p>
          <a:p>
            <a:r>
              <a:rPr lang="en-US" dirty="0"/>
              <a:t>Redis key-value cache and store</a:t>
            </a:r>
          </a:p>
          <a:p>
            <a:pPr lvl="1"/>
            <a:r>
              <a:rPr lang="en-US" dirty="0"/>
              <a:t>Caches data in main memory to improve performance</a:t>
            </a:r>
          </a:p>
          <a:p>
            <a:pPr lvl="1"/>
            <a:r>
              <a:rPr lang="en-US" dirty="0"/>
              <a:t>Offers master-slave replication and high availability</a:t>
            </a:r>
          </a:p>
          <a:p>
            <a:pPr lvl="1"/>
            <a:r>
              <a:rPr lang="en-US" dirty="0"/>
              <a:t>Offers persistence by backing up cache to disk</a:t>
            </a:r>
          </a:p>
          <a:p>
            <a:r>
              <a:rPr lang="en-US" dirty="0"/>
              <a:t>Apache Cassandra</a:t>
            </a:r>
          </a:p>
          <a:p>
            <a:pPr lvl="1"/>
            <a:r>
              <a:rPr lang="en-US" dirty="0"/>
              <a:t>Offers features from several NOSQL categories</a:t>
            </a:r>
          </a:p>
          <a:p>
            <a:pPr lvl="1"/>
            <a:r>
              <a:rPr lang="en-US" dirty="0"/>
              <a:t>Used by Facebook and others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en-US" dirty="0"/>
              <a:t>Slide 24- </a:t>
            </a:r>
            <a:fld id="{2D4306B9-CFD7-4637-81D1-AA1B82412423}" type="slidenum">
              <a:rPr lang="en-US" altLang="en-US" smtClean="0"/>
              <a:pPr>
                <a:defRPr/>
              </a:pPr>
              <a:t>27</a:t>
            </a:fld>
            <a:endParaRPr lang="en-CA" altLang="en-US" dirty="0"/>
          </a:p>
        </p:txBody>
      </p:sp>
    </p:spTree>
    <p:extLst>
      <p:ext uri="{BB962C8B-B14F-4D97-AF65-F5344CB8AC3E}">
        <p14:creationId xmlns:p14="http://schemas.microsoft.com/office/powerpoint/2010/main" val="2210121817"/>
      </p:ext>
    </p:extLst>
  </p:cSld>
  <p:clrMapOvr>
    <a:masterClrMapping/>
  </p:clrMapOvr>
  <p:transition spd="med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24.5 Column-Based or Wide Column</a:t>
            </a:r>
            <a:br>
              <a:rPr lang="en-US" altLang="en-US" dirty="0"/>
            </a:br>
            <a:r>
              <a:rPr lang="en-US" altLang="en-US" dirty="0"/>
              <a:t>NOSQL Systems</a:t>
            </a:r>
          </a:p>
        </p:txBody>
      </p:sp>
      <p:sp>
        <p:nvSpPr>
          <p:cNvPr id="36867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dirty="0"/>
              <a:t>BigTable: Google’s distributed storage system for big data</a:t>
            </a:r>
          </a:p>
          <a:p>
            <a:pPr lvl="1"/>
            <a:r>
              <a:rPr lang="en-US" altLang="en-US" dirty="0"/>
              <a:t>Used in Gmail</a:t>
            </a:r>
          </a:p>
          <a:p>
            <a:pPr lvl="1"/>
            <a:r>
              <a:rPr lang="en-US" altLang="en-US" dirty="0"/>
              <a:t>Uses Google File System for data storage and distribution</a:t>
            </a:r>
          </a:p>
          <a:p>
            <a:r>
              <a:rPr lang="en-US" altLang="en-US" dirty="0"/>
              <a:t>Apache Hbase a similar, open source system</a:t>
            </a:r>
          </a:p>
          <a:p>
            <a:pPr lvl="1"/>
            <a:r>
              <a:rPr lang="en-US" altLang="en-US" dirty="0"/>
              <a:t>Uses Hadoop Distributed File System (HDFS) for data storage</a:t>
            </a:r>
          </a:p>
          <a:p>
            <a:pPr lvl="1"/>
            <a:r>
              <a:rPr lang="en-US" altLang="en-US" dirty="0"/>
              <a:t>Can also use Amazon’s Simple Storage System (S3)</a:t>
            </a:r>
          </a:p>
        </p:txBody>
      </p:sp>
      <p:sp>
        <p:nvSpPr>
          <p:cNvPr id="36868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990033"/>
              </a:buClr>
              <a:buSzPct val="60000"/>
              <a:buFont typeface="Wingdings" panose="05000000000000000000" pitchFamily="2" charset="2"/>
              <a:buChar char="n"/>
              <a:defRPr sz="28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tx2"/>
              </a:buClr>
              <a:buSzPct val="55000"/>
              <a:buFont typeface="Wingdings" panose="05000000000000000000" pitchFamily="2" charset="2"/>
              <a:buChar char="n"/>
              <a:defRPr sz="2600">
                <a:solidFill>
                  <a:srgbClr val="800000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rgbClr val="800000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400" dirty="0">
                <a:solidFill>
                  <a:srgbClr val="990033"/>
                </a:solidFill>
              </a:rPr>
              <a:t>Slide 24- </a:t>
            </a:r>
            <a:fld id="{F67D9DAC-9BD9-446C-AC93-DFE50E2B3A9D}" type="slidenum">
              <a:rPr lang="en-US" altLang="en-US" sz="1400" smtClean="0">
                <a:solidFill>
                  <a:srgbClr val="990033"/>
                </a:solidFill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28</a:t>
            </a:fld>
            <a:endParaRPr lang="en-CA" altLang="en-US" sz="1400" dirty="0">
              <a:solidFill>
                <a:srgbClr val="990033"/>
              </a:solidFill>
            </a:endParaRPr>
          </a:p>
        </p:txBody>
      </p:sp>
    </p:spTree>
  </p:cSld>
  <p:clrMapOvr>
    <a:masterClrMapping/>
  </p:clrMapOvr>
  <p:transition spd="med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Hbase Data Model and Versioning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organization concepts</a:t>
            </a:r>
          </a:p>
          <a:p>
            <a:pPr lvl="1"/>
            <a:r>
              <a:rPr lang="en-US" dirty="0"/>
              <a:t>Namespaces</a:t>
            </a:r>
          </a:p>
          <a:p>
            <a:pPr lvl="1"/>
            <a:r>
              <a:rPr lang="en-US" dirty="0"/>
              <a:t>Tables</a:t>
            </a:r>
          </a:p>
          <a:p>
            <a:pPr lvl="1"/>
            <a:r>
              <a:rPr lang="en-US" dirty="0"/>
              <a:t>Column families</a:t>
            </a:r>
          </a:p>
          <a:p>
            <a:pPr lvl="1"/>
            <a:r>
              <a:rPr lang="en-US" dirty="0"/>
              <a:t>Column qualifiers</a:t>
            </a:r>
          </a:p>
          <a:p>
            <a:pPr lvl="1"/>
            <a:r>
              <a:rPr lang="en-US" dirty="0"/>
              <a:t>Columns</a:t>
            </a:r>
          </a:p>
          <a:p>
            <a:pPr lvl="1"/>
            <a:r>
              <a:rPr lang="en-US" dirty="0"/>
              <a:t>Rows</a:t>
            </a:r>
          </a:p>
          <a:p>
            <a:pPr lvl="1"/>
            <a:r>
              <a:rPr lang="en-US" dirty="0"/>
              <a:t>Data cells</a:t>
            </a:r>
          </a:p>
          <a:p>
            <a:r>
              <a:rPr lang="en-US" dirty="0"/>
              <a:t>Data is self-describing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en-US" dirty="0"/>
              <a:t>Slide 24- </a:t>
            </a:r>
            <a:fld id="{2D4306B9-CFD7-4637-81D1-AA1B82412423}" type="slidenum">
              <a:rPr lang="en-US" altLang="en-US" smtClean="0"/>
              <a:pPr>
                <a:defRPr/>
              </a:pPr>
              <a:t>29</a:t>
            </a:fld>
            <a:endParaRPr lang="en-CA" altLang="en-US" dirty="0"/>
          </a:p>
        </p:txBody>
      </p:sp>
    </p:spTree>
    <p:extLst>
      <p:ext uri="{BB962C8B-B14F-4D97-AF65-F5344CB8AC3E}">
        <p14:creationId xmlns:p14="http://schemas.microsoft.com/office/powerpoint/2010/main" val="1638825767"/>
      </p:ext>
    </p:extLst>
  </p:cSld>
  <p:clrMapOvr>
    <a:masterClrMapping/>
  </p:clrMapOvr>
  <p:transition spd="med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Hbase Data Model and Versioning (cont’d.)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HBase stores multiple versions of data items</a:t>
            </a:r>
          </a:p>
          <a:p>
            <a:pPr lvl="1"/>
            <a:r>
              <a:rPr lang="en-US" dirty="0"/>
              <a:t>Timestamp associated with each version</a:t>
            </a:r>
          </a:p>
          <a:p>
            <a:r>
              <a:rPr lang="en-US" dirty="0"/>
              <a:t>Each row in a table has a unique row key</a:t>
            </a:r>
          </a:p>
          <a:p>
            <a:r>
              <a:rPr lang="en-US" dirty="0"/>
              <a:t>Table associated with one or more column families</a:t>
            </a:r>
          </a:p>
          <a:p>
            <a:r>
              <a:rPr lang="en-US" dirty="0"/>
              <a:t>Column qualifiers can be dynamically specified as new table rows are created and inserted</a:t>
            </a:r>
          </a:p>
          <a:p>
            <a:r>
              <a:rPr lang="en-US" dirty="0"/>
              <a:t>Namespace is collection of tables</a:t>
            </a:r>
          </a:p>
          <a:p>
            <a:r>
              <a:rPr lang="en-US" dirty="0"/>
              <a:t>Cell holds a basic data item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en-US" dirty="0"/>
              <a:t>Slide 24- </a:t>
            </a:r>
            <a:fld id="{2D4306B9-CFD7-4637-81D1-AA1B82412423}" type="slidenum">
              <a:rPr lang="en-US" altLang="en-US" smtClean="0"/>
              <a:pPr>
                <a:defRPr/>
              </a:pPr>
              <a:t>30</a:t>
            </a:fld>
            <a:endParaRPr lang="en-CA" altLang="en-US" dirty="0"/>
          </a:p>
        </p:txBody>
      </p:sp>
    </p:spTree>
    <p:extLst>
      <p:ext uri="{BB962C8B-B14F-4D97-AF65-F5344CB8AC3E}">
        <p14:creationId xmlns:p14="http://schemas.microsoft.com/office/powerpoint/2010/main" val="2300023469"/>
      </p:ext>
    </p:extLst>
  </p:cSld>
  <p:clrMapOvr>
    <a:masterClrMapping/>
  </p:clrMapOvr>
  <p:transition spd="med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en-US" dirty="0"/>
              <a:t>Slide 24- </a:t>
            </a:r>
            <a:fld id="{CBCCE3FE-FCB0-427A-BC32-764E10629896}" type="slidenum">
              <a:rPr lang="en-US" altLang="en-US" smtClean="0"/>
              <a:pPr>
                <a:defRPr/>
              </a:pPr>
              <a:t>31</a:t>
            </a:fld>
            <a:endParaRPr lang="en-CA" alt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304800" y="5181600"/>
            <a:ext cx="82296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Figure 24.3 Examples in Hbase (a) Creating a table called EMPLOYEE with three column families: Name, Address, and Details (b) Inserting some in the EMPLOYEE table; different rows can have different self-describing column qualifiers (Fname, Lname, Nickname, Mname, Minit, Suffix, … for column family Name; Job, Review, Supervisor, Salary for column family Details). (c) Some CRUD operations of Hbase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217099"/>
            <a:ext cx="6019800" cy="4815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2424478"/>
      </p:ext>
    </p:extLst>
  </p:cSld>
  <p:clrMapOvr>
    <a:masterClrMapping/>
  </p:clrMapOvr>
  <p:transition spd="med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Hbase Crud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Provides only low-level CRUD (create, read, update, delete) operations</a:t>
            </a:r>
          </a:p>
          <a:p>
            <a:r>
              <a:rPr lang="en-US" dirty="0"/>
              <a:t>Application programs implement more complex operations</a:t>
            </a:r>
          </a:p>
          <a:p>
            <a:r>
              <a:rPr lang="en-US" dirty="0"/>
              <a:t>Create</a:t>
            </a:r>
          </a:p>
          <a:p>
            <a:pPr lvl="1"/>
            <a:r>
              <a:rPr lang="en-US" dirty="0"/>
              <a:t>Creates a new table and specifies one or more column families associated with the table</a:t>
            </a:r>
          </a:p>
          <a:p>
            <a:r>
              <a:rPr lang="en-US" dirty="0"/>
              <a:t>Put</a:t>
            </a:r>
          </a:p>
          <a:p>
            <a:pPr lvl="1"/>
            <a:r>
              <a:rPr lang="en-US" dirty="0"/>
              <a:t>Inserts new data or new versions of existing data items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en-US" dirty="0"/>
              <a:t>Slide 24- </a:t>
            </a:r>
            <a:fld id="{2D4306B9-CFD7-4637-81D1-AA1B82412423}" type="slidenum">
              <a:rPr lang="en-US" altLang="en-US" smtClean="0"/>
              <a:pPr>
                <a:defRPr/>
              </a:pPr>
              <a:t>32</a:t>
            </a:fld>
            <a:endParaRPr lang="en-CA" altLang="en-US" dirty="0"/>
          </a:p>
        </p:txBody>
      </p:sp>
    </p:spTree>
    <p:extLst>
      <p:ext uri="{BB962C8B-B14F-4D97-AF65-F5344CB8AC3E}">
        <p14:creationId xmlns:p14="http://schemas.microsoft.com/office/powerpoint/2010/main" val="1417596757"/>
      </p:ext>
    </p:extLst>
  </p:cSld>
  <p:clrMapOvr>
    <a:masterClrMapping/>
  </p:clrMapOvr>
  <p:transition spd="med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Hbase Crud Operations (cont’d.)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Get</a:t>
            </a:r>
          </a:p>
          <a:p>
            <a:pPr lvl="1"/>
            <a:r>
              <a:rPr lang="en-US" dirty="0"/>
              <a:t>Retrieves data associated with a single row</a:t>
            </a:r>
          </a:p>
          <a:p>
            <a:r>
              <a:rPr lang="en-US" dirty="0"/>
              <a:t>Scan</a:t>
            </a:r>
          </a:p>
          <a:p>
            <a:pPr lvl="1"/>
            <a:r>
              <a:rPr lang="en-US" dirty="0"/>
              <a:t>Retrieves all the rows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en-US" dirty="0"/>
              <a:t>Slide 24- </a:t>
            </a:r>
            <a:fld id="{2D4306B9-CFD7-4637-81D1-AA1B82412423}" type="slidenum">
              <a:rPr lang="en-US" altLang="en-US" smtClean="0"/>
              <a:pPr>
                <a:defRPr/>
              </a:pPr>
              <a:t>33</a:t>
            </a:fld>
            <a:endParaRPr lang="en-CA" altLang="en-US" dirty="0"/>
          </a:p>
        </p:txBody>
      </p:sp>
    </p:spTree>
    <p:extLst>
      <p:ext uri="{BB962C8B-B14F-4D97-AF65-F5344CB8AC3E}">
        <p14:creationId xmlns:p14="http://schemas.microsoft.com/office/powerpoint/2010/main" val="2967330399"/>
      </p:ext>
    </p:extLst>
  </p:cSld>
  <p:clrMapOvr>
    <a:masterClrMapping/>
  </p:clrMapOvr>
  <p:transition spd="med"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Hbase Storage and Distributed System Concepts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Each Hbase table divided into several regions</a:t>
            </a:r>
          </a:p>
          <a:p>
            <a:pPr lvl="1"/>
            <a:r>
              <a:rPr lang="en-US" dirty="0"/>
              <a:t>Each region holds a range</a:t>
            </a:r>
            <a:r>
              <a:rPr lang="en-US" i="1" dirty="0"/>
              <a:t> </a:t>
            </a:r>
            <a:r>
              <a:rPr lang="en-US" dirty="0"/>
              <a:t>of the row keys in the table</a:t>
            </a:r>
          </a:p>
          <a:p>
            <a:pPr lvl="1"/>
            <a:r>
              <a:rPr lang="en-US" dirty="0"/>
              <a:t>Row keys must be lexicographically ordered</a:t>
            </a:r>
          </a:p>
          <a:p>
            <a:pPr lvl="1"/>
            <a:r>
              <a:rPr lang="en-US" dirty="0"/>
              <a:t>Each region has several stores</a:t>
            </a:r>
          </a:p>
          <a:p>
            <a:pPr lvl="2"/>
            <a:r>
              <a:rPr lang="en-US" dirty="0"/>
              <a:t>Column families are assigned to stores</a:t>
            </a:r>
          </a:p>
          <a:p>
            <a:r>
              <a:rPr lang="en-US" dirty="0"/>
              <a:t>Regions assigned to region servers for storage</a:t>
            </a:r>
          </a:p>
          <a:p>
            <a:pPr lvl="1"/>
            <a:r>
              <a:rPr lang="en-US" dirty="0"/>
              <a:t>Master server responsible for monitoring the region servers</a:t>
            </a:r>
          </a:p>
          <a:p>
            <a:r>
              <a:rPr lang="en-US" dirty="0"/>
              <a:t>Hbase uses Apache Zookeeper and HDFS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en-US" dirty="0"/>
              <a:t>Slide 24- </a:t>
            </a:r>
            <a:fld id="{2D4306B9-CFD7-4637-81D1-AA1B82412423}" type="slidenum">
              <a:rPr lang="en-US" altLang="en-US" smtClean="0"/>
              <a:pPr>
                <a:defRPr/>
              </a:pPr>
              <a:t>34</a:t>
            </a:fld>
            <a:endParaRPr lang="en-CA" altLang="en-US" dirty="0"/>
          </a:p>
        </p:txBody>
      </p:sp>
    </p:spTree>
    <p:extLst>
      <p:ext uri="{BB962C8B-B14F-4D97-AF65-F5344CB8AC3E}">
        <p14:creationId xmlns:p14="http://schemas.microsoft.com/office/powerpoint/2010/main" val="2523144259"/>
      </p:ext>
    </p:extLst>
  </p:cSld>
  <p:clrMapOvr>
    <a:masterClrMapping/>
  </p:clrMapOvr>
  <p:transition spd="med"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24.6 NOSQL Graph Databases and Neo4j</a:t>
            </a:r>
          </a:p>
        </p:txBody>
      </p:sp>
      <p:sp>
        <p:nvSpPr>
          <p:cNvPr id="38915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Graph databases</a:t>
            </a:r>
          </a:p>
          <a:p>
            <a:pPr lvl="1"/>
            <a:r>
              <a:rPr lang="en-US" altLang="en-US" dirty="0"/>
              <a:t>Data represented as a graph</a:t>
            </a:r>
          </a:p>
          <a:p>
            <a:pPr lvl="1"/>
            <a:r>
              <a:rPr lang="en-US" altLang="en-US" dirty="0"/>
              <a:t>Collection of vertices (nodes) and edges</a:t>
            </a:r>
          </a:p>
          <a:p>
            <a:pPr lvl="1"/>
            <a:r>
              <a:rPr lang="en-US" altLang="en-US" dirty="0"/>
              <a:t>Possible to store data associated with both individual nodes and individual edges</a:t>
            </a:r>
          </a:p>
          <a:p>
            <a:r>
              <a:rPr lang="en-US" altLang="en-US" dirty="0"/>
              <a:t>Neo4j</a:t>
            </a:r>
          </a:p>
          <a:p>
            <a:pPr lvl="1"/>
            <a:r>
              <a:rPr lang="en-US" altLang="en-US" dirty="0"/>
              <a:t>Open source system</a:t>
            </a:r>
          </a:p>
          <a:p>
            <a:pPr lvl="1"/>
            <a:r>
              <a:rPr lang="en-US" altLang="en-US" dirty="0"/>
              <a:t>Uses concepts of nodes and relationships</a:t>
            </a:r>
          </a:p>
        </p:txBody>
      </p:sp>
      <p:sp>
        <p:nvSpPr>
          <p:cNvPr id="38916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990033"/>
              </a:buClr>
              <a:buSzPct val="60000"/>
              <a:buFont typeface="Wingdings" panose="05000000000000000000" pitchFamily="2" charset="2"/>
              <a:buChar char="n"/>
              <a:defRPr sz="28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tx2"/>
              </a:buClr>
              <a:buSzPct val="55000"/>
              <a:buFont typeface="Wingdings" panose="05000000000000000000" pitchFamily="2" charset="2"/>
              <a:buChar char="n"/>
              <a:defRPr sz="2600">
                <a:solidFill>
                  <a:srgbClr val="800000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rgbClr val="800000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400" dirty="0">
                <a:solidFill>
                  <a:srgbClr val="990033"/>
                </a:solidFill>
              </a:rPr>
              <a:t>Slide 24- </a:t>
            </a:r>
            <a:fld id="{852D8B88-38B0-4796-B84B-53B099FD8987}" type="slidenum">
              <a:rPr lang="en-US" altLang="en-US" sz="1400" smtClean="0">
                <a:solidFill>
                  <a:srgbClr val="990033"/>
                </a:solidFill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35</a:t>
            </a:fld>
            <a:endParaRPr lang="en-CA" altLang="en-US" sz="1400" dirty="0">
              <a:solidFill>
                <a:srgbClr val="990033"/>
              </a:solidFill>
            </a:endParaRPr>
          </a:p>
        </p:txBody>
      </p:sp>
    </p:spTree>
  </p:cSld>
  <p:clrMapOvr>
    <a:masterClrMapping/>
  </p:clrMapOvr>
  <p:transition spd="med"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Neo4j (cont’d.)</a:t>
            </a:r>
          </a:p>
        </p:txBody>
      </p:sp>
      <p:sp>
        <p:nvSpPr>
          <p:cNvPr id="38915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Nodes can have labels</a:t>
            </a:r>
          </a:p>
          <a:p>
            <a:pPr lvl="1"/>
            <a:r>
              <a:rPr lang="en-US" dirty="0"/>
              <a:t>Zero, one, or several</a:t>
            </a:r>
          </a:p>
          <a:p>
            <a:r>
              <a:rPr lang="en-US" altLang="en-US" dirty="0"/>
              <a:t>Both nodes and relationships can have properties</a:t>
            </a:r>
          </a:p>
          <a:p>
            <a:r>
              <a:rPr lang="en-US" altLang="en-US" dirty="0"/>
              <a:t>Each relationship has a start node, end node, and a relationship type</a:t>
            </a:r>
          </a:p>
          <a:p>
            <a:r>
              <a:rPr lang="en-US" altLang="en-US" dirty="0"/>
              <a:t>Properties specified using a map pattern</a:t>
            </a:r>
          </a:p>
          <a:p>
            <a:r>
              <a:rPr lang="en-US" altLang="en-US" dirty="0"/>
              <a:t>Somewhat similar to ER/EER concepts</a:t>
            </a:r>
          </a:p>
        </p:txBody>
      </p:sp>
      <p:sp>
        <p:nvSpPr>
          <p:cNvPr id="38916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990033"/>
              </a:buClr>
              <a:buSzPct val="60000"/>
              <a:buFont typeface="Wingdings" panose="05000000000000000000" pitchFamily="2" charset="2"/>
              <a:buChar char="n"/>
              <a:defRPr sz="28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tx2"/>
              </a:buClr>
              <a:buSzPct val="55000"/>
              <a:buFont typeface="Wingdings" panose="05000000000000000000" pitchFamily="2" charset="2"/>
              <a:buChar char="n"/>
              <a:defRPr sz="2600">
                <a:solidFill>
                  <a:srgbClr val="800000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rgbClr val="800000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400" dirty="0">
                <a:solidFill>
                  <a:srgbClr val="990033"/>
                </a:solidFill>
              </a:rPr>
              <a:t>Slide 24- </a:t>
            </a:r>
            <a:fld id="{852D8B88-38B0-4796-B84B-53B099FD8987}" type="slidenum">
              <a:rPr lang="en-US" altLang="en-US" sz="1400" smtClean="0">
                <a:solidFill>
                  <a:srgbClr val="990033"/>
                </a:solidFill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36</a:t>
            </a:fld>
            <a:endParaRPr lang="en-CA" altLang="en-US" sz="1400" dirty="0">
              <a:solidFill>
                <a:srgbClr val="99003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8180773"/>
      </p:ext>
    </p:extLst>
  </p:cSld>
  <p:clrMapOvr>
    <a:masterClrMapping/>
  </p:clrMapOvr>
  <p:transition spd="med"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Neo4j (cont’d.)</a:t>
            </a:r>
          </a:p>
        </p:txBody>
      </p:sp>
      <p:sp>
        <p:nvSpPr>
          <p:cNvPr id="38915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Creating nodes in Neo4j</a:t>
            </a:r>
          </a:p>
          <a:p>
            <a:pPr lvl="1"/>
            <a:r>
              <a:rPr lang="en-US" altLang="en-US" dirty="0"/>
              <a:t>CREATE command</a:t>
            </a:r>
          </a:p>
          <a:p>
            <a:pPr lvl="1"/>
            <a:r>
              <a:rPr lang="en-US" altLang="en-US" dirty="0"/>
              <a:t>Part of high-level declarative query language Cypher</a:t>
            </a:r>
          </a:p>
          <a:p>
            <a:pPr lvl="1"/>
            <a:r>
              <a:rPr lang="en-US" altLang="en-US" dirty="0"/>
              <a:t>Node label can be specified when node is created</a:t>
            </a:r>
          </a:p>
          <a:p>
            <a:pPr lvl="1"/>
            <a:r>
              <a:rPr lang="en-US" altLang="en-US" dirty="0"/>
              <a:t>Properties are enclosed in curly brackets</a:t>
            </a:r>
          </a:p>
        </p:txBody>
      </p:sp>
      <p:sp>
        <p:nvSpPr>
          <p:cNvPr id="38916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990033"/>
              </a:buClr>
              <a:buSzPct val="60000"/>
              <a:buFont typeface="Wingdings" panose="05000000000000000000" pitchFamily="2" charset="2"/>
              <a:buChar char="n"/>
              <a:defRPr sz="28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tx2"/>
              </a:buClr>
              <a:buSzPct val="55000"/>
              <a:buFont typeface="Wingdings" panose="05000000000000000000" pitchFamily="2" charset="2"/>
              <a:buChar char="n"/>
              <a:defRPr sz="2600">
                <a:solidFill>
                  <a:srgbClr val="800000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rgbClr val="800000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400" dirty="0">
                <a:solidFill>
                  <a:srgbClr val="990033"/>
                </a:solidFill>
              </a:rPr>
              <a:t>Slide 24- </a:t>
            </a:r>
            <a:fld id="{852D8B88-38B0-4796-B84B-53B099FD8987}" type="slidenum">
              <a:rPr lang="en-US" altLang="en-US" sz="1400" smtClean="0">
                <a:solidFill>
                  <a:srgbClr val="990033"/>
                </a:solidFill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37</a:t>
            </a:fld>
            <a:endParaRPr lang="en-CA" altLang="en-US" sz="1400" dirty="0">
              <a:solidFill>
                <a:srgbClr val="99003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79951601"/>
      </p:ext>
    </p:extLst>
  </p:cSld>
  <p:clrMapOvr>
    <a:masterClrMapping/>
  </p:clrMapOvr>
  <p:transition spd="med"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Neo4j (cont’d.)</a:t>
            </a:r>
            <a:endParaRPr lang="en-US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en-US" dirty="0"/>
              <a:t>Slide 24- </a:t>
            </a:r>
            <a:fld id="{CBCCE3FE-FCB0-427A-BC32-764E10629896}" type="slidenum">
              <a:rPr lang="en-US" altLang="en-US" smtClean="0"/>
              <a:pPr>
                <a:defRPr/>
              </a:pPr>
              <a:t>38</a:t>
            </a:fld>
            <a:endParaRPr lang="en-CA" altLang="en-US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2852" y="1693616"/>
            <a:ext cx="6400800" cy="41529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3400" y="5960477"/>
            <a:ext cx="78678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Figure 24.4 Examples in Neo4j using the Cypher language (a) Creating some nodes</a:t>
            </a:r>
          </a:p>
        </p:txBody>
      </p:sp>
    </p:spTree>
    <p:extLst>
      <p:ext uri="{BB962C8B-B14F-4D97-AF65-F5344CB8AC3E}">
        <p14:creationId xmlns:p14="http://schemas.microsoft.com/office/powerpoint/2010/main" val="3154246409"/>
      </p:ext>
    </p:extLst>
  </p:cSld>
  <p:clrMapOvr>
    <a:masterClrMapping/>
  </p:clrMapOvr>
  <p:transition spd="med"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Neo4j (cont’d.)</a:t>
            </a:r>
            <a:endParaRPr lang="en-US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en-US" dirty="0"/>
              <a:t>Slide 24- </a:t>
            </a:r>
            <a:fld id="{CBCCE3FE-FCB0-427A-BC32-764E10629896}" type="slidenum">
              <a:rPr lang="en-US" altLang="en-US" smtClean="0"/>
              <a:pPr>
                <a:defRPr/>
              </a:pPr>
              <a:t>39</a:t>
            </a:fld>
            <a:endParaRPr lang="en-CA" alt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1509713" y="5816025"/>
            <a:ext cx="63769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Figure 24.4 (cont’d.) Examples in Neo4j using the Cypher language (b) Creating some relationships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6906" y="1632645"/>
            <a:ext cx="5562600" cy="415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5541575"/>
      </p:ext>
    </p:extLst>
  </p:cSld>
  <p:clrMapOvr>
    <a:masterClrMapping/>
  </p:clrMapOvr>
  <p:transition spd="med"/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Neo4j (cont’d.)</a:t>
            </a:r>
          </a:p>
        </p:txBody>
      </p:sp>
      <p:sp>
        <p:nvSpPr>
          <p:cNvPr id="38915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Path</a:t>
            </a:r>
          </a:p>
          <a:p>
            <a:pPr lvl="1"/>
            <a:r>
              <a:rPr lang="en-US" altLang="en-US" dirty="0"/>
              <a:t>Traversal of part of the graph</a:t>
            </a:r>
          </a:p>
          <a:p>
            <a:pPr lvl="1"/>
            <a:r>
              <a:rPr lang="en-US" altLang="en-US" dirty="0"/>
              <a:t>Typically used as part of a query to specify a pattern</a:t>
            </a:r>
          </a:p>
          <a:p>
            <a:r>
              <a:rPr lang="en-US" altLang="en-US" dirty="0"/>
              <a:t>Schema optional in Neo4j</a:t>
            </a:r>
          </a:p>
          <a:p>
            <a:r>
              <a:rPr lang="en-US" altLang="en-US" dirty="0"/>
              <a:t>Indexing and node identifiers</a:t>
            </a:r>
          </a:p>
          <a:p>
            <a:pPr lvl="1"/>
            <a:r>
              <a:rPr lang="en-US" altLang="en-US" dirty="0"/>
              <a:t>Users can create for the collection of nodes that have a particular label</a:t>
            </a:r>
          </a:p>
          <a:p>
            <a:pPr lvl="1"/>
            <a:r>
              <a:rPr lang="en-US" altLang="en-US" dirty="0"/>
              <a:t>One or more properties can be indexed</a:t>
            </a:r>
          </a:p>
        </p:txBody>
      </p:sp>
      <p:sp>
        <p:nvSpPr>
          <p:cNvPr id="38916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990033"/>
              </a:buClr>
              <a:buSzPct val="60000"/>
              <a:buFont typeface="Wingdings" panose="05000000000000000000" pitchFamily="2" charset="2"/>
              <a:buChar char="n"/>
              <a:defRPr sz="28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tx2"/>
              </a:buClr>
              <a:buSzPct val="55000"/>
              <a:buFont typeface="Wingdings" panose="05000000000000000000" pitchFamily="2" charset="2"/>
              <a:buChar char="n"/>
              <a:defRPr sz="2600">
                <a:solidFill>
                  <a:srgbClr val="800000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rgbClr val="800000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400" dirty="0">
                <a:solidFill>
                  <a:srgbClr val="990033"/>
                </a:solidFill>
              </a:rPr>
              <a:t>Slide 24- </a:t>
            </a:r>
            <a:fld id="{852D8B88-38B0-4796-B84B-53B099FD8987}" type="slidenum">
              <a:rPr lang="en-US" altLang="en-US" sz="1400" smtClean="0">
                <a:solidFill>
                  <a:srgbClr val="990033"/>
                </a:solidFill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40</a:t>
            </a:fld>
            <a:endParaRPr lang="en-CA" altLang="en-US" sz="1400" dirty="0">
              <a:solidFill>
                <a:srgbClr val="99003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65246841"/>
      </p:ext>
    </p:extLst>
  </p:cSld>
  <p:clrMapOvr>
    <a:masterClrMapping/>
  </p:clrMapOvr>
  <p:transition spd="med"/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The Cypher Query Language of Neo4j</a:t>
            </a:r>
          </a:p>
        </p:txBody>
      </p:sp>
      <p:sp>
        <p:nvSpPr>
          <p:cNvPr id="38915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Cypher query made up of clauses</a:t>
            </a:r>
          </a:p>
          <a:p>
            <a:r>
              <a:rPr lang="en-US" altLang="en-US" dirty="0"/>
              <a:t>Result from one clause can be the input to the next clause in the query</a:t>
            </a:r>
          </a:p>
        </p:txBody>
      </p:sp>
      <p:sp>
        <p:nvSpPr>
          <p:cNvPr id="38916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990033"/>
              </a:buClr>
              <a:buSzPct val="60000"/>
              <a:buFont typeface="Wingdings" panose="05000000000000000000" pitchFamily="2" charset="2"/>
              <a:buChar char="n"/>
              <a:defRPr sz="28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tx2"/>
              </a:buClr>
              <a:buSzPct val="55000"/>
              <a:buFont typeface="Wingdings" panose="05000000000000000000" pitchFamily="2" charset="2"/>
              <a:buChar char="n"/>
              <a:defRPr sz="2600">
                <a:solidFill>
                  <a:srgbClr val="800000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rgbClr val="800000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400" dirty="0">
                <a:solidFill>
                  <a:srgbClr val="990033"/>
                </a:solidFill>
              </a:rPr>
              <a:t>Slide 24- </a:t>
            </a:r>
            <a:fld id="{852D8B88-38B0-4796-B84B-53B099FD8987}" type="slidenum">
              <a:rPr lang="en-US" altLang="en-US" sz="1400" smtClean="0">
                <a:solidFill>
                  <a:srgbClr val="990033"/>
                </a:solidFill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41</a:t>
            </a:fld>
            <a:endParaRPr lang="en-CA" altLang="en-US" sz="1400" dirty="0">
              <a:solidFill>
                <a:srgbClr val="99003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93084397"/>
      </p:ext>
    </p:extLst>
  </p:cSld>
  <p:clrMapOvr>
    <a:masterClrMapping/>
  </p:clrMapOvr>
  <p:transition spd="med"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The Cypher Query Language of Neo4j (cont’d.)</a:t>
            </a:r>
            <a:endParaRPr lang="en-US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en-US" dirty="0"/>
              <a:t>Slide 24- </a:t>
            </a:r>
            <a:fld id="{CBCCE3FE-FCB0-427A-BC32-764E10629896}" type="slidenum">
              <a:rPr lang="en-US" altLang="en-US" smtClean="0"/>
              <a:pPr>
                <a:defRPr/>
              </a:pPr>
              <a:t>42</a:t>
            </a:fld>
            <a:endParaRPr lang="en-CA" alt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1143000" y="5581870"/>
            <a:ext cx="63769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Figure 24.4 (cont’d.) Examples in Neo4j using the Cypher language (c) Basic syntax of Cypher queries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070354"/>
            <a:ext cx="7476387" cy="3028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7446888"/>
      </p:ext>
    </p:extLst>
  </p:cSld>
  <p:clrMapOvr>
    <a:masterClrMapping/>
  </p:clrMapOvr>
  <p:transition spd="med"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The Cypher Query Language of Neo4j (cont’d.)</a:t>
            </a:r>
            <a:endParaRPr lang="en-US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en-US" dirty="0"/>
              <a:t>Slide 24- </a:t>
            </a:r>
            <a:fld id="{CBCCE3FE-FCB0-427A-BC32-764E10629896}" type="slidenum">
              <a:rPr lang="en-US" altLang="en-US" smtClean="0"/>
              <a:pPr>
                <a:defRPr/>
              </a:pPr>
              <a:t>43</a:t>
            </a:fld>
            <a:endParaRPr lang="en-CA" alt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304800" y="3269848"/>
            <a:ext cx="33528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Figure 24.4 (cont’d.) Examples in Neo4j using the Cypher language (d) Examples of Cypher queries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6200" y="1591173"/>
            <a:ext cx="4514850" cy="4842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3483459"/>
      </p:ext>
    </p:extLst>
  </p:cSld>
  <p:clrMapOvr>
    <a:masterClrMapping/>
  </p:clrMapOvr>
  <p:transition spd="med"/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Neo4j Interfaces and Distributed System Characteristics</a:t>
            </a:r>
          </a:p>
        </p:txBody>
      </p:sp>
      <p:sp>
        <p:nvSpPr>
          <p:cNvPr id="38915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Enterprise edition versus c</a:t>
            </a:r>
            <a:r>
              <a:rPr lang="en-US" altLang="en-US" dirty="0"/>
              <a:t>ommunity edition</a:t>
            </a:r>
          </a:p>
          <a:p>
            <a:pPr lvl="1"/>
            <a:r>
              <a:rPr lang="en-US" altLang="en-US" dirty="0"/>
              <a:t>Enterprise edition supports caching, clustering of data, and locking</a:t>
            </a:r>
          </a:p>
          <a:p>
            <a:r>
              <a:rPr lang="en-US" altLang="en-US" dirty="0"/>
              <a:t>Graph visualization interface</a:t>
            </a:r>
          </a:p>
          <a:p>
            <a:pPr lvl="1"/>
            <a:r>
              <a:rPr lang="en-US" dirty="0"/>
              <a:t>Subset of nodes and edges in a database graph can be displayed as a graph</a:t>
            </a:r>
          </a:p>
          <a:p>
            <a:pPr lvl="1"/>
            <a:r>
              <a:rPr lang="en-US" dirty="0"/>
              <a:t>Used to visualize query results</a:t>
            </a:r>
            <a:endParaRPr lang="en-US" altLang="en-US" dirty="0"/>
          </a:p>
          <a:p>
            <a:r>
              <a:rPr lang="en-US" altLang="en-US" dirty="0"/>
              <a:t>Master-slave replication</a:t>
            </a:r>
          </a:p>
          <a:p>
            <a:r>
              <a:rPr lang="en-US" altLang="en-US" dirty="0"/>
              <a:t>Caching</a:t>
            </a:r>
          </a:p>
          <a:p>
            <a:r>
              <a:rPr lang="en-US" altLang="en-US" dirty="0"/>
              <a:t>Logical logs</a:t>
            </a:r>
          </a:p>
        </p:txBody>
      </p:sp>
      <p:sp>
        <p:nvSpPr>
          <p:cNvPr id="38916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990033"/>
              </a:buClr>
              <a:buSzPct val="60000"/>
              <a:buFont typeface="Wingdings" panose="05000000000000000000" pitchFamily="2" charset="2"/>
              <a:buChar char="n"/>
              <a:defRPr sz="28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tx2"/>
              </a:buClr>
              <a:buSzPct val="55000"/>
              <a:buFont typeface="Wingdings" panose="05000000000000000000" pitchFamily="2" charset="2"/>
              <a:buChar char="n"/>
              <a:defRPr sz="2600">
                <a:solidFill>
                  <a:srgbClr val="800000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rgbClr val="800000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400" dirty="0">
                <a:solidFill>
                  <a:srgbClr val="990033"/>
                </a:solidFill>
              </a:rPr>
              <a:t>Slide 24- </a:t>
            </a:r>
            <a:fld id="{852D8B88-38B0-4796-B84B-53B099FD8987}" type="slidenum">
              <a:rPr lang="en-US" altLang="en-US" sz="1400" smtClean="0">
                <a:solidFill>
                  <a:srgbClr val="990033"/>
                </a:solidFill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44</a:t>
            </a:fld>
            <a:endParaRPr lang="en-CA" altLang="en-US" sz="1400" dirty="0">
              <a:solidFill>
                <a:srgbClr val="99003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10415652"/>
      </p:ext>
    </p:extLst>
  </p:cSld>
  <p:clrMapOvr>
    <a:masterClrMapping/>
  </p:clrMapOvr>
  <p:transition spd="med"/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24.7 Summary</a:t>
            </a:r>
          </a:p>
        </p:txBody>
      </p:sp>
      <p:sp>
        <p:nvSpPr>
          <p:cNvPr id="38915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NOSQL systems focus on storage of “big data”</a:t>
            </a:r>
          </a:p>
          <a:p>
            <a:r>
              <a:rPr lang="en-US" dirty="0"/>
              <a:t>General categories</a:t>
            </a:r>
          </a:p>
          <a:p>
            <a:pPr lvl="1"/>
            <a:r>
              <a:rPr lang="en-US" dirty="0"/>
              <a:t>Document-based</a:t>
            </a:r>
          </a:p>
          <a:p>
            <a:pPr lvl="1"/>
            <a:r>
              <a:rPr lang="en-US" dirty="0"/>
              <a:t>Key-value stores</a:t>
            </a:r>
          </a:p>
          <a:p>
            <a:pPr lvl="1"/>
            <a:r>
              <a:rPr lang="en-US" dirty="0"/>
              <a:t>Column-based</a:t>
            </a:r>
          </a:p>
          <a:p>
            <a:pPr lvl="1"/>
            <a:r>
              <a:rPr lang="en-US" dirty="0"/>
              <a:t>Graph-based</a:t>
            </a:r>
          </a:p>
          <a:p>
            <a:pPr lvl="1"/>
            <a:r>
              <a:rPr lang="en-US" dirty="0"/>
              <a:t>Some systems use techniques spanning two or more categories</a:t>
            </a:r>
          </a:p>
          <a:p>
            <a:r>
              <a:rPr lang="en-US" dirty="0"/>
              <a:t>Consistency paradigms</a:t>
            </a:r>
          </a:p>
          <a:p>
            <a:r>
              <a:rPr lang="en-US" dirty="0"/>
              <a:t>CAP theorem</a:t>
            </a:r>
          </a:p>
        </p:txBody>
      </p:sp>
      <p:sp>
        <p:nvSpPr>
          <p:cNvPr id="38916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990033"/>
              </a:buClr>
              <a:buSzPct val="60000"/>
              <a:buFont typeface="Wingdings" panose="05000000000000000000" pitchFamily="2" charset="2"/>
              <a:buChar char="n"/>
              <a:defRPr sz="28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tx2"/>
              </a:buClr>
              <a:buSzPct val="55000"/>
              <a:buFont typeface="Wingdings" panose="05000000000000000000" pitchFamily="2" charset="2"/>
              <a:buChar char="n"/>
              <a:defRPr sz="2600">
                <a:solidFill>
                  <a:srgbClr val="800000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rgbClr val="800000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400" dirty="0">
                <a:solidFill>
                  <a:srgbClr val="990033"/>
                </a:solidFill>
              </a:rPr>
              <a:t>Slide 24- </a:t>
            </a:r>
            <a:fld id="{852D8B88-38B0-4796-B84B-53B099FD8987}" type="slidenum">
              <a:rPr lang="en-US" altLang="en-US" sz="1400" smtClean="0">
                <a:solidFill>
                  <a:srgbClr val="990033"/>
                </a:solidFill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45</a:t>
            </a:fld>
            <a:endParaRPr lang="en-CA" altLang="en-US" sz="1400" dirty="0">
              <a:solidFill>
                <a:srgbClr val="99003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41613165"/>
      </p:ext>
    </p:extLst>
  </p:cSld>
  <p:clrMapOvr>
    <a:masterClrMapping/>
  </p:clrMapOvr>
  <p:transition spd="med"/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Blends">
  <a:themeElements>
    <a:clrScheme name="Blends 2">
      <a:dk1>
        <a:srgbClr val="000000"/>
      </a:dk1>
      <a:lt1>
        <a:srgbClr val="FFFFFF"/>
      </a:lt1>
      <a:dk2>
        <a:srgbClr val="333399"/>
      </a:dk2>
      <a:lt2>
        <a:srgbClr val="1C1C1C"/>
      </a:lt2>
      <a:accent1>
        <a:srgbClr val="00E4A8"/>
      </a:accent1>
      <a:accent2>
        <a:srgbClr val="FFCF01"/>
      </a:accent2>
      <a:accent3>
        <a:srgbClr val="FFFFFF"/>
      </a:accent3>
      <a:accent4>
        <a:srgbClr val="000000"/>
      </a:accent4>
      <a:accent5>
        <a:srgbClr val="AAEFD1"/>
      </a:accent5>
      <a:accent6>
        <a:srgbClr val="E7BB01"/>
      </a:accent6>
      <a:hlink>
        <a:srgbClr val="FF0000"/>
      </a:hlink>
      <a:folHlink>
        <a:srgbClr val="3333CC"/>
      </a:folHlink>
    </a:clrScheme>
    <a:fontScheme name="Blend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blipFill dpi="0" rotWithShape="0">
          <a:blip xmlns:r="http://schemas.openxmlformats.org/officeDocument/2006/relationships" r:embed="rId1"/>
          <a:srcRect/>
          <a:tile tx="0" ty="0" sx="100000" sy="100000" flip="none" algn="tl"/>
        </a:blip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CA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blipFill dpi="0" rotWithShape="0">
          <a:blip xmlns:r="http://schemas.openxmlformats.org/officeDocument/2006/relationships" r:embed="rId1"/>
          <a:srcRect/>
          <a:tile tx="0" ty="0" sx="100000" sy="100000" flip="none" algn="tl"/>
        </a:blip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CA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Blends 1">
        <a:dk1>
          <a:srgbClr val="969696"/>
        </a:dk1>
        <a:lt1>
          <a:srgbClr val="FFFFFF"/>
        </a:lt1>
        <a:dk2>
          <a:srgbClr val="000000"/>
        </a:dk2>
        <a:lt2>
          <a:srgbClr val="DDDDDD"/>
        </a:lt2>
        <a:accent1>
          <a:srgbClr val="00E4A8"/>
        </a:accent1>
        <a:accent2>
          <a:srgbClr val="3333CC"/>
        </a:accent2>
        <a:accent3>
          <a:srgbClr val="AAAAAA"/>
        </a:accent3>
        <a:accent4>
          <a:srgbClr val="DADADA"/>
        </a:accent4>
        <a:accent5>
          <a:srgbClr val="AAEFD1"/>
        </a:accent5>
        <a:accent6>
          <a:srgbClr val="2D2DB9"/>
        </a:accent6>
        <a:hlink>
          <a:srgbClr val="FF5050"/>
        </a:hlink>
        <a:folHlink>
          <a:srgbClr val="FFCF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ends 2">
        <a:dk1>
          <a:srgbClr val="000000"/>
        </a:dk1>
        <a:lt1>
          <a:srgbClr val="FFFFFF"/>
        </a:lt1>
        <a:dk2>
          <a:srgbClr val="333399"/>
        </a:dk2>
        <a:lt2>
          <a:srgbClr val="1C1C1C"/>
        </a:lt2>
        <a:accent1>
          <a:srgbClr val="00E4A8"/>
        </a:accent1>
        <a:accent2>
          <a:srgbClr val="FFCF01"/>
        </a:accent2>
        <a:accent3>
          <a:srgbClr val="FFFFFF"/>
        </a:accent3>
        <a:accent4>
          <a:srgbClr val="000000"/>
        </a:accent4>
        <a:accent5>
          <a:srgbClr val="AAEFD1"/>
        </a:accent5>
        <a:accent6>
          <a:srgbClr val="E7BB01"/>
        </a:accent6>
        <a:hlink>
          <a:srgbClr val="FF0000"/>
        </a:hlink>
        <a:folHlink>
          <a:srgbClr val="3333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ends 3">
        <a:dk1>
          <a:srgbClr val="000000"/>
        </a:dk1>
        <a:lt1>
          <a:srgbClr val="FFFFFF"/>
        </a:lt1>
        <a:dk2>
          <a:srgbClr val="000000"/>
        </a:dk2>
        <a:lt2>
          <a:srgbClr val="5F5F5F"/>
        </a:lt2>
        <a:accent1>
          <a:srgbClr val="EAEAEA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F3F3F3"/>
        </a:accent5>
        <a:accent6>
          <a:srgbClr val="737373"/>
        </a:accent6>
        <a:hlink>
          <a:srgbClr val="4D4D4D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ends 4">
        <a:dk1>
          <a:srgbClr val="000094"/>
        </a:dk1>
        <a:lt1>
          <a:srgbClr val="FFFFFF"/>
        </a:lt1>
        <a:dk2>
          <a:srgbClr val="0000CC"/>
        </a:dk2>
        <a:lt2>
          <a:srgbClr val="FFFFCC"/>
        </a:lt2>
        <a:accent1>
          <a:srgbClr val="3193FF"/>
        </a:accent1>
        <a:accent2>
          <a:srgbClr val="9900FF"/>
        </a:accent2>
        <a:accent3>
          <a:srgbClr val="AAAAE2"/>
        </a:accent3>
        <a:accent4>
          <a:srgbClr val="DADADA"/>
        </a:accent4>
        <a:accent5>
          <a:srgbClr val="ADC8FF"/>
        </a:accent5>
        <a:accent6>
          <a:srgbClr val="8A00E7"/>
        </a:accent6>
        <a:hlink>
          <a:srgbClr val="FF3399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ends 5">
        <a:dk1>
          <a:srgbClr val="000000"/>
        </a:dk1>
        <a:lt1>
          <a:srgbClr val="FFFFFF"/>
        </a:lt1>
        <a:dk2>
          <a:srgbClr val="000066"/>
        </a:dk2>
        <a:lt2>
          <a:srgbClr val="333333"/>
        </a:lt2>
        <a:accent1>
          <a:srgbClr val="C4709A"/>
        </a:accent1>
        <a:accent2>
          <a:srgbClr val="4B4EB5"/>
        </a:accent2>
        <a:accent3>
          <a:srgbClr val="FFFFFF"/>
        </a:accent3>
        <a:accent4>
          <a:srgbClr val="000000"/>
        </a:accent4>
        <a:accent5>
          <a:srgbClr val="DEBBCA"/>
        </a:accent5>
        <a:accent6>
          <a:srgbClr val="4346A4"/>
        </a:accent6>
        <a:hlink>
          <a:srgbClr val="C481CF"/>
        </a:hlink>
        <a:folHlink>
          <a:srgbClr val="76B74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ends 6">
        <a:dk1>
          <a:srgbClr val="000000"/>
        </a:dk1>
        <a:lt1>
          <a:srgbClr val="FFFFFF"/>
        </a:lt1>
        <a:dk2>
          <a:srgbClr val="6A4076"/>
        </a:dk2>
        <a:lt2>
          <a:srgbClr val="969696"/>
        </a:lt2>
        <a:accent1>
          <a:srgbClr val="DBA9C2"/>
        </a:accent1>
        <a:accent2>
          <a:srgbClr val="E1BF91"/>
        </a:accent2>
        <a:accent3>
          <a:srgbClr val="FFFFFF"/>
        </a:accent3>
        <a:accent4>
          <a:srgbClr val="000000"/>
        </a:accent4>
        <a:accent5>
          <a:srgbClr val="EAD1DD"/>
        </a:accent5>
        <a:accent6>
          <a:srgbClr val="CCAD83"/>
        </a:accent6>
        <a:hlink>
          <a:srgbClr val="B3CE82"/>
        </a:hlink>
        <a:folHlink>
          <a:srgbClr val="B8AD48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ends 7">
        <a:dk1>
          <a:srgbClr val="000000"/>
        </a:dk1>
        <a:lt1>
          <a:srgbClr val="FFFFFF"/>
        </a:lt1>
        <a:dk2>
          <a:srgbClr val="515F7B"/>
        </a:dk2>
        <a:lt2>
          <a:srgbClr val="808080"/>
        </a:lt2>
        <a:accent1>
          <a:srgbClr val="9FCAD3"/>
        </a:accent1>
        <a:accent2>
          <a:srgbClr val="C0C0C0"/>
        </a:accent2>
        <a:accent3>
          <a:srgbClr val="FFFFFF"/>
        </a:accent3>
        <a:accent4>
          <a:srgbClr val="000000"/>
        </a:accent4>
        <a:accent5>
          <a:srgbClr val="CDE1E6"/>
        </a:accent5>
        <a:accent6>
          <a:srgbClr val="AEAEAE"/>
        </a:accent6>
        <a:hlink>
          <a:srgbClr val="91AFBF"/>
        </a:hlink>
        <a:folHlink>
          <a:srgbClr val="ECEAAC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C:\Program Files\Microsoft Office\Templates\Presentation Designs\Blends.pot</Template>
  <TotalTime>3657</TotalTime>
  <Words>1946</Words>
  <Application>Microsoft Office PowerPoint</Application>
  <PresentationFormat>Letter Paper (8.5x11 in)</PresentationFormat>
  <Paragraphs>324</Paragraphs>
  <Slides>45</Slides>
  <Notes>1</Notes>
  <HiddenSlides>1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9" baseType="lpstr">
      <vt:lpstr>Arial</vt:lpstr>
      <vt:lpstr>Tahoma</vt:lpstr>
      <vt:lpstr>Wingdings</vt:lpstr>
      <vt:lpstr>Blends</vt:lpstr>
      <vt:lpstr>PowerPoint Presentation</vt:lpstr>
      <vt:lpstr>PowerPoint Presentation</vt:lpstr>
      <vt:lpstr>Introduction</vt:lpstr>
      <vt:lpstr>Introduction (cont’d.)</vt:lpstr>
      <vt:lpstr>24.1 Introduction to NOSQL Systems</vt:lpstr>
      <vt:lpstr>Introduction to NOSQL Systems (cont’d.)</vt:lpstr>
      <vt:lpstr>Introduction to NOSQL Systems (cont’d.)</vt:lpstr>
      <vt:lpstr>Introduction to NOSQL Systems (cont’d.)</vt:lpstr>
      <vt:lpstr>Introduction to NOSQL Systems (cont’d.)</vt:lpstr>
      <vt:lpstr>24.2 The CAP Theorem</vt:lpstr>
      <vt:lpstr>24.2 The CAP Theorem</vt:lpstr>
      <vt:lpstr>24.2 The CAP Theorem</vt:lpstr>
      <vt:lpstr>The CAP Theorem (cont’d.)</vt:lpstr>
      <vt:lpstr>The CAP Theorem (cont’d.)</vt:lpstr>
      <vt:lpstr>24.3 Document-Based NOSQL Systems and MongoDB</vt:lpstr>
      <vt:lpstr>MongoDB Data Model</vt:lpstr>
      <vt:lpstr>MongoDB Data Model (cont’d.)</vt:lpstr>
      <vt:lpstr>PowerPoint Presentation</vt:lpstr>
      <vt:lpstr>PowerPoint Presentation</vt:lpstr>
      <vt:lpstr>MongoDB Distributed Systems Characteristics</vt:lpstr>
      <vt:lpstr>MongoDB Distributed Systems Characteristics (cont’d.)</vt:lpstr>
      <vt:lpstr>MongoDB Distributed Systems Characteristics (cont’d.)</vt:lpstr>
      <vt:lpstr>24.4 NOSQL Key-Value Stores</vt:lpstr>
      <vt:lpstr>DynamoDB Overview</vt:lpstr>
      <vt:lpstr>Voldemort Key-Value Distributed Data Store</vt:lpstr>
      <vt:lpstr>PowerPoint Presentation</vt:lpstr>
      <vt:lpstr>Examples of Other Key-Value Stores</vt:lpstr>
      <vt:lpstr>24.5 Column-Based or Wide Column NOSQL Systems</vt:lpstr>
      <vt:lpstr>Hbase Data Model and Versioning</vt:lpstr>
      <vt:lpstr>Hbase Data Model and Versioning (cont’d.)</vt:lpstr>
      <vt:lpstr>PowerPoint Presentation</vt:lpstr>
      <vt:lpstr>Hbase Crud Operations</vt:lpstr>
      <vt:lpstr>Hbase Crud Operations (cont’d.)</vt:lpstr>
      <vt:lpstr>Hbase Storage and Distributed System Concepts </vt:lpstr>
      <vt:lpstr>24.6 NOSQL Graph Databases and Neo4j</vt:lpstr>
      <vt:lpstr>Neo4j (cont’d.)</vt:lpstr>
      <vt:lpstr>Neo4j (cont’d.)</vt:lpstr>
      <vt:lpstr>Neo4j (cont’d.)</vt:lpstr>
      <vt:lpstr>Neo4j (cont’d.)</vt:lpstr>
      <vt:lpstr>Neo4j (cont’d.)</vt:lpstr>
      <vt:lpstr>The Cypher Query Language of Neo4j</vt:lpstr>
      <vt:lpstr>The Cypher Query Language of Neo4j (cont’d.)</vt:lpstr>
      <vt:lpstr>The Cypher Query Language of Neo4j (cont’d.)</vt:lpstr>
      <vt:lpstr>Neo4j Interfaces and Distributed System Characteristics</vt:lpstr>
      <vt:lpstr>24.7 Summary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</dc:title>
  <dc:subject/>
  <dc:creator/>
  <cp:keywords/>
  <dc:description/>
  <cp:lastModifiedBy>Hi</cp:lastModifiedBy>
  <cp:revision>308</cp:revision>
  <cp:lastPrinted>2001-11-04T00:51:13Z</cp:lastPrinted>
  <dcterms:created xsi:type="dcterms:W3CDTF">2005-02-25T19:46:41Z</dcterms:created>
  <dcterms:modified xsi:type="dcterms:W3CDTF">2026-06-03T15:34:08Z</dcterms:modified>
  <cp:category/>
</cp:coreProperties>
</file>